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5"/>
    <p:sldMasterId id="214748367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</p:sldIdLst>
  <p:sldSz cy="5143500" cx="9144000"/>
  <p:notesSz cx="6858000" cy="9144000"/>
  <p:embeddedFontLst>
    <p:embeddedFont>
      <p:font typeface="Roboto Slab"/>
      <p:regular r:id="rId35"/>
      <p:bold r:id="rId3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92AD407-C6A8-41B1-B636-6FCA18469071}">
  <a:tblStyle styleId="{992AD407-C6A8-41B1-B636-6FCA18469071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slide" Target="slides/slide2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11" Type="http://schemas.openxmlformats.org/officeDocument/2006/relationships/slide" Target="slides/slide4.xml"/><Relationship Id="rId33" Type="http://schemas.openxmlformats.org/officeDocument/2006/relationships/slide" Target="slides/slide26.xml"/><Relationship Id="rId10" Type="http://schemas.openxmlformats.org/officeDocument/2006/relationships/slide" Target="slides/slide3.xml"/><Relationship Id="rId32" Type="http://schemas.openxmlformats.org/officeDocument/2006/relationships/slide" Target="slides/slide25.xml"/><Relationship Id="rId13" Type="http://schemas.openxmlformats.org/officeDocument/2006/relationships/slide" Target="slides/slide6.xml"/><Relationship Id="rId35" Type="http://schemas.openxmlformats.org/officeDocument/2006/relationships/font" Target="fonts/RobotoSlab-regular.fntdata"/><Relationship Id="rId12" Type="http://schemas.openxmlformats.org/officeDocument/2006/relationships/slide" Target="slides/slide5.xml"/><Relationship Id="rId34" Type="http://schemas.openxmlformats.org/officeDocument/2006/relationships/slide" Target="slides/slide27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36" Type="http://schemas.openxmlformats.org/officeDocument/2006/relationships/font" Target="fonts/RobotoSlab-bold.fntdata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h3fce75f4b8ed40b7_1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h3fce75f4b8ed40b7_1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h2c498755614046a4_32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h2c498755614046a4_32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h2c498755614046a4_32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h2c498755614046a4_32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h3fce75f4b8ed40b7_1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h3fce75f4b8ed40b7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h2c498755614046a4_32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h2c498755614046a4_32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h3fce75f4b8ed40b7_1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h3fce75f4b8ed40b7_1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h3fce75f4b8ed40b7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h3fce75f4b8ed40b7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h3fce75f4b8ed40b7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h3fce75f4b8ed40b7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h3fce75f4b8ed40b7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h3fce75f4b8ed40b7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h3fce75f4b8ed40b7_0_1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h3fce75f4b8ed40b7_0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h2c498755614046a4_53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h2c498755614046a4_53_75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h2c498755614046a4_53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h2c498755614046a4_53_85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h2c498755614046a4_53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h2c498755614046a4_53_94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h2c498755614046a4_53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h2c498755614046a4_53_106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h2c498755614046a4_53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h2c498755614046a4_53_115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h3fce75f4b8ed40b7_1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" name="Google Shape;298;h3fce75f4b8ed40b7_1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h3fce75f4b8ed40b7_1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" name="Google Shape;305;h3fce75f4b8ed40b7_1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h3fce75f4b8ed40b7_1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2" name="Google Shape;312;h3fce75f4b8ed40b7_1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h3fce75f4b8ed40b7_1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9" name="Google Shape;319;h3fce75f4b8ed40b7_1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h2c498755614046a4_38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8" name="Google Shape;328;h2c498755614046a4_38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h2c498755614046a4_38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0" name="Google Shape;340;h2c498755614046a4_38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h3fce75f4b8ed40b7_1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4" name="Google Shape;354;h3fce75f4b8ed40b7_1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h3fce75f4b8ed40b7_1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0" name="Google Shape;360;h3fce75f4b8ed40b7_1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h2c498755614046a4_38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9" name="Google Shape;369;h2c498755614046a4_38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h2c498755614046a4_38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7" name="Google Shape;377;h2c498755614046a4_38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h2c498755614046a4_75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3" name="Google Shape;383;h2c498755614046a4_75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27245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406400" lvl="0" marL="457200"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1pPr>
            <a:lvl2pPr indent="-381000" lvl="1" marL="9144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indent="-355600" lvl="2" marL="137160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/>
          <p:nvPr>
            <p:ph type="ctrTitle"/>
          </p:nvPr>
        </p:nvSpPr>
        <p:spPr>
          <a:xfrm>
            <a:off x="514364" y="1597819"/>
            <a:ext cx="5829455" cy="1102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2" name="Google Shape;62;p15"/>
          <p:cNvSpPr txBox="1"/>
          <p:nvPr>
            <p:ph idx="1" type="subTitle"/>
          </p:nvPr>
        </p:nvSpPr>
        <p:spPr>
          <a:xfrm>
            <a:off x="1028727" y="2914650"/>
            <a:ext cx="4800728" cy="13144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1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3" name="Google Shape;63;p15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8" name="Google Shape;68;p16"/>
          <p:cNvSpPr txBox="1"/>
          <p:nvPr>
            <p:ph idx="1" type="body"/>
          </p:nvPr>
        </p:nvSpPr>
        <p:spPr>
          <a:xfrm>
            <a:off x="342909" y="1200150"/>
            <a:ext cx="6172365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9" name="Google Shape;69;p16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 txBox="1"/>
          <p:nvPr>
            <p:ph type="title"/>
          </p:nvPr>
        </p:nvSpPr>
        <p:spPr>
          <a:xfrm>
            <a:off x="541749" y="3305175"/>
            <a:ext cx="5829455" cy="102155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  <a:defRPr b="1" sz="3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4" name="Google Shape;74;p17"/>
          <p:cNvSpPr txBox="1"/>
          <p:nvPr>
            <p:ph idx="1" type="body"/>
          </p:nvPr>
        </p:nvSpPr>
        <p:spPr>
          <a:xfrm>
            <a:off x="541749" y="2180035"/>
            <a:ext cx="5829455" cy="112514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5" name="Google Shape;75;p17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0" name="Google Shape;80;p18"/>
          <p:cNvSpPr txBox="1"/>
          <p:nvPr>
            <p:ph idx="1" type="body"/>
          </p:nvPr>
        </p:nvSpPr>
        <p:spPr>
          <a:xfrm>
            <a:off x="342909" y="1200150"/>
            <a:ext cx="3029031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indent="-3429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indent="-32385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81" name="Google Shape;81;p18"/>
          <p:cNvSpPr txBox="1"/>
          <p:nvPr>
            <p:ph idx="2" type="body"/>
          </p:nvPr>
        </p:nvSpPr>
        <p:spPr>
          <a:xfrm>
            <a:off x="3486243" y="1200150"/>
            <a:ext cx="3029031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indent="-3429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indent="-32385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82" name="Google Shape;82;p18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4" name="Google Shape;84;p18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9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7" name="Google Shape;87;p19"/>
          <p:cNvSpPr txBox="1"/>
          <p:nvPr>
            <p:ph idx="1" type="body"/>
          </p:nvPr>
        </p:nvSpPr>
        <p:spPr>
          <a:xfrm>
            <a:off x="342909" y="1151335"/>
            <a:ext cx="3030222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88" name="Google Shape;88;p19"/>
          <p:cNvSpPr txBox="1"/>
          <p:nvPr>
            <p:ph idx="2" type="body"/>
          </p:nvPr>
        </p:nvSpPr>
        <p:spPr>
          <a:xfrm>
            <a:off x="342909" y="1631156"/>
            <a:ext cx="3030222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385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indent="-3048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indent="-3048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89" name="Google Shape;89;p19"/>
          <p:cNvSpPr txBox="1"/>
          <p:nvPr>
            <p:ph idx="3" type="body"/>
          </p:nvPr>
        </p:nvSpPr>
        <p:spPr>
          <a:xfrm>
            <a:off x="3483862" y="1151335"/>
            <a:ext cx="3031412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90" name="Google Shape;90;p19"/>
          <p:cNvSpPr txBox="1"/>
          <p:nvPr>
            <p:ph idx="4" type="body"/>
          </p:nvPr>
        </p:nvSpPr>
        <p:spPr>
          <a:xfrm>
            <a:off x="3483862" y="1631156"/>
            <a:ext cx="3031412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385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indent="-3048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indent="-3048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91" name="Google Shape;91;p19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2" name="Google Shape;92;p19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6" name="Google Shape;96;p20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7" name="Google Shape;97;p20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/>
          <p:nvPr>
            <p:ph type="title"/>
          </p:nvPr>
        </p:nvSpPr>
        <p:spPr>
          <a:xfrm>
            <a:off x="342909" y="204788"/>
            <a:ext cx="2256295" cy="871538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b="1" sz="1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1" name="Google Shape;101;p21"/>
          <p:cNvSpPr txBox="1"/>
          <p:nvPr>
            <p:ph idx="1" type="body"/>
          </p:nvPr>
        </p:nvSpPr>
        <p:spPr>
          <a:xfrm>
            <a:off x="2681359" y="204788"/>
            <a:ext cx="3833915" cy="438983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–"/>
              <a:defRPr sz="2100"/>
            </a:lvl2pPr>
            <a:lvl3pPr indent="-3429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4pPr>
            <a:lvl5pPr indent="-32385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»"/>
              <a:defRPr sz="1500"/>
            </a:lvl5pPr>
            <a:lvl6pPr indent="-32385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02" name="Google Shape;102;p21"/>
          <p:cNvSpPr txBox="1"/>
          <p:nvPr>
            <p:ph idx="2" type="body"/>
          </p:nvPr>
        </p:nvSpPr>
        <p:spPr>
          <a:xfrm>
            <a:off x="342909" y="1076325"/>
            <a:ext cx="2256295" cy="351829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103" name="Google Shape;103;p21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4" name="Google Shape;104;p21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5" name="Google Shape;105;p21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1344252" y="3600450"/>
            <a:ext cx="4114910" cy="42505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b="1" sz="1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8" name="Google Shape;108;p22"/>
          <p:cNvSpPr/>
          <p:nvPr>
            <p:ph idx="2" type="pic"/>
          </p:nvPr>
        </p:nvSpPr>
        <p:spPr>
          <a:xfrm>
            <a:off x="1344252" y="459581"/>
            <a:ext cx="411491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1344252" y="4025503"/>
            <a:ext cx="4114910" cy="60364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110" name="Google Shape;110;p22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1" name="Google Shape;111;p22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 rot="5400000">
            <a:off x="1731855" y="-188796"/>
            <a:ext cx="3394472" cy="617236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7" name="Google Shape;117;p23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8" name="Google Shape;118;p23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 rot="5400000">
            <a:off x="3549406" y="1628755"/>
            <a:ext cx="4388644" cy="154309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 rot="5400000">
            <a:off x="406072" y="142815"/>
            <a:ext cx="4388644" cy="451497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4" name="Google Shape;124;p24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42909" y="1200150"/>
            <a:ext cx="6172365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marR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6195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5.png"/><Relationship Id="rId4" Type="http://schemas.openxmlformats.org/officeDocument/2006/relationships/image" Target="../media/image7.png"/><Relationship Id="rId5" Type="http://schemas.openxmlformats.org/officeDocument/2006/relationships/image" Target="../media/image10.png"/><Relationship Id="rId6" Type="http://schemas.openxmlformats.org/officeDocument/2006/relationships/image" Target="../media/image3.png"/><Relationship Id="rId7" Type="http://schemas.openxmlformats.org/officeDocument/2006/relationships/image" Target="../media/image8.png"/><Relationship Id="rId8" Type="http://schemas.openxmlformats.org/officeDocument/2006/relationships/image" Target="../media/image1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Relationship Id="rId4" Type="http://schemas.openxmlformats.org/officeDocument/2006/relationships/image" Target="../media/image31.png"/><Relationship Id="rId5" Type="http://schemas.openxmlformats.org/officeDocument/2006/relationships/image" Target="../media/image1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Relationship Id="rId4" Type="http://schemas.openxmlformats.org/officeDocument/2006/relationships/image" Target="../media/image1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2.png"/><Relationship Id="rId4" Type="http://schemas.openxmlformats.org/officeDocument/2006/relationships/image" Target="../media/image1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2.png"/><Relationship Id="rId4" Type="http://schemas.openxmlformats.org/officeDocument/2006/relationships/image" Target="../media/image1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0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hyperlink" Target="https://academic.oup.com/mnras/article/426/2/1465/975270" TargetMode="External"/><Relationship Id="rId4" Type="http://schemas.openxmlformats.org/officeDocument/2006/relationships/hyperlink" Target="https://iopscience.iop.org/article/10.1088/0004-637X/779/1/38/pdf" TargetMode="External"/><Relationship Id="rId5" Type="http://schemas.openxmlformats.org/officeDocument/2006/relationships/hyperlink" Target="https://academic.oup.com/mnras/article/426/2/1465/975270" TargetMode="External"/><Relationship Id="rId6" Type="http://schemas.openxmlformats.org/officeDocument/2006/relationships/hyperlink" Target="https://academic.oup.com/mnras/article/426/2/1465/975270" TargetMode="External"/><Relationship Id="rId7" Type="http://schemas.openxmlformats.org/officeDocument/2006/relationships/image" Target="../media/image19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hyperlink" Target="https://arxiv.org/pdf/astro-ph/0211219" TargetMode="External"/><Relationship Id="rId4" Type="http://schemas.openxmlformats.org/officeDocument/2006/relationships/image" Target="../media/image2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5.png"/><Relationship Id="rId4" Type="http://schemas.openxmlformats.org/officeDocument/2006/relationships/image" Target="../media/image29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5.png"/><Relationship Id="rId4" Type="http://schemas.openxmlformats.org/officeDocument/2006/relationships/image" Target="../media/image32.png"/><Relationship Id="rId5" Type="http://schemas.openxmlformats.org/officeDocument/2006/relationships/image" Target="../media/image29.jpg"/><Relationship Id="rId6" Type="http://schemas.openxmlformats.org/officeDocument/2006/relationships/image" Target="../media/image27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5.png"/><Relationship Id="rId4" Type="http://schemas.openxmlformats.org/officeDocument/2006/relationships/image" Target="../media/image32.png"/><Relationship Id="rId5" Type="http://schemas.openxmlformats.org/officeDocument/2006/relationships/image" Target="../media/image29.jpg"/><Relationship Id="rId6" Type="http://schemas.openxmlformats.org/officeDocument/2006/relationships/image" Target="../media/image27.jpg"/><Relationship Id="rId7" Type="http://schemas.openxmlformats.org/officeDocument/2006/relationships/hyperlink" Target="https://iopscience.iop.org/article/10.1088/0004-637X/779/1/38/pdf" TargetMode="Externa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0.png"/><Relationship Id="rId4" Type="http://schemas.openxmlformats.org/officeDocument/2006/relationships/hyperlink" Target="https://iopscience.iop.org/article/10.1088/0004-6256/139/1/120/pdf" TargetMode="External"/><Relationship Id="rId5" Type="http://schemas.openxmlformats.org/officeDocument/2006/relationships/image" Target="../media/image28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6.jp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hyperlink" Target="https://iopscience.iop.org/article/10.1088/0004-637X/789/1/32/pdf" TargetMode="Externa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SNe Ia - Reddening Estimates</a:t>
            </a:r>
            <a:endParaRPr/>
          </a:p>
        </p:txBody>
      </p:sp>
      <p:sp>
        <p:nvSpPr>
          <p:cNvPr id="130" name="Google Shape;130;p25"/>
          <p:cNvSpPr txBox="1"/>
          <p:nvPr>
            <p:ph idx="1" type="subTitle"/>
          </p:nvPr>
        </p:nvSpPr>
        <p:spPr>
          <a:xfrm>
            <a:off x="311700" y="2834125"/>
            <a:ext cx="8520600" cy="16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5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Emma Irene Barile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Akum Gill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Peter Massey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Niccolò Passaleva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Hira Waseem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Advisor: Giorgio Valerin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6"/>
          <p:cNvSpPr txBox="1"/>
          <p:nvPr>
            <p:ph type="title"/>
          </p:nvPr>
        </p:nvSpPr>
        <p:spPr>
          <a:xfrm>
            <a:off x="27245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 [1/8]: SNe Ia</a:t>
            </a:r>
            <a:endParaRPr/>
          </a:p>
        </p:txBody>
      </p:sp>
      <p:pic>
        <p:nvPicPr>
          <p:cNvPr id="136" name="Google Shape;136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163" y="936150"/>
            <a:ext cx="4335186" cy="3820976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26"/>
          <p:cNvSpPr txBox="1"/>
          <p:nvPr/>
        </p:nvSpPr>
        <p:spPr>
          <a:xfrm>
            <a:off x="79163" y="4642827"/>
            <a:ext cx="2133600" cy="1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</a:rPr>
              <a:t>Wikipedia Commons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38" name="Google Shape;138;p26"/>
          <p:cNvSpPr/>
          <p:nvPr/>
        </p:nvSpPr>
        <p:spPr>
          <a:xfrm>
            <a:off x="5213052" y="2243989"/>
            <a:ext cx="1205400" cy="1205400"/>
          </a:xfrm>
          <a:prstGeom prst="ellipse">
            <a:avLst/>
          </a:prstGeom>
          <a:solidFill>
            <a:schemeClr val="lt2"/>
          </a:solidFill>
          <a:ln cap="flat" cmpd="sng" w="88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4850" lIns="84850" spcFirstLastPara="1" rIns="84850" wrap="square" tIns="84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99"/>
          </a:p>
        </p:txBody>
      </p:sp>
      <p:sp>
        <p:nvSpPr>
          <p:cNvPr id="139" name="Google Shape;139;p26"/>
          <p:cNvSpPr/>
          <p:nvPr/>
        </p:nvSpPr>
        <p:spPr>
          <a:xfrm rot="5400000">
            <a:off x="4600944" y="1631815"/>
            <a:ext cx="2429700" cy="2429700"/>
          </a:xfrm>
          <a:prstGeom prst="blockArc">
            <a:avLst>
              <a:gd fmla="val 10800000" name="adj1"/>
              <a:gd fmla="val 21561716" name="adj2"/>
              <a:gd fmla="val 13647" name="adj3"/>
            </a:avLst>
          </a:prstGeom>
          <a:solidFill>
            <a:schemeClr val="lt2"/>
          </a:solidFill>
          <a:ln cap="flat" cmpd="sng" w="88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4850" lIns="84850" spcFirstLastPara="1" rIns="84850" wrap="square" tIns="84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99"/>
          </a:p>
        </p:txBody>
      </p:sp>
      <p:sp>
        <p:nvSpPr>
          <p:cNvPr id="140" name="Google Shape;140;p26"/>
          <p:cNvSpPr/>
          <p:nvPr/>
        </p:nvSpPr>
        <p:spPr>
          <a:xfrm rot="5400000">
            <a:off x="3928811" y="959637"/>
            <a:ext cx="3774000" cy="3774000"/>
          </a:xfrm>
          <a:prstGeom prst="blockArc">
            <a:avLst>
              <a:gd fmla="val 10800000" name="adj1"/>
              <a:gd fmla="val 21498231" name="adj2"/>
              <a:gd fmla="val 9818" name="adj3"/>
            </a:avLst>
          </a:prstGeom>
          <a:solidFill>
            <a:schemeClr val="lt2"/>
          </a:solidFill>
          <a:ln cap="flat" cmpd="sng" w="88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4850" lIns="84850" spcFirstLastPara="1" rIns="84850" wrap="square" tIns="84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99"/>
          </a:p>
        </p:txBody>
      </p:sp>
      <p:sp>
        <p:nvSpPr>
          <p:cNvPr id="141" name="Google Shape;141;p26"/>
          <p:cNvSpPr txBox="1"/>
          <p:nvPr/>
        </p:nvSpPr>
        <p:spPr>
          <a:xfrm>
            <a:off x="4491836" y="2051850"/>
            <a:ext cx="883200" cy="158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⁵⁶Ni 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↓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⁵⁶Co 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↓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</a:rPr>
              <a:t>⁵⁶Fe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142" name="Google Shape;142;p26"/>
          <p:cNvCxnSpPr/>
          <p:nvPr/>
        </p:nvCxnSpPr>
        <p:spPr>
          <a:xfrm>
            <a:off x="5884236" y="2841725"/>
            <a:ext cx="21822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3" name="Google Shape;143;p26"/>
          <p:cNvSpPr txBox="1"/>
          <p:nvPr/>
        </p:nvSpPr>
        <p:spPr>
          <a:xfrm rot="-1507147">
            <a:off x="6010721" y="1542066"/>
            <a:ext cx="2275611" cy="57252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Si S Ca Mg O C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44" name="Google Shape;144;p26"/>
          <p:cNvPicPr preferRelativeResize="0"/>
          <p:nvPr/>
        </p:nvPicPr>
        <p:blipFill rotWithShape="1">
          <a:blip r:embed="rId4">
            <a:alphaModFix/>
          </a:blip>
          <a:srcRect b="0" l="0" r="34314" t="0"/>
          <a:stretch/>
        </p:blipFill>
        <p:spPr>
          <a:xfrm>
            <a:off x="8135238" y="2416550"/>
            <a:ext cx="851100" cy="850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7"/>
          <p:cNvSpPr txBox="1"/>
          <p:nvPr>
            <p:ph type="title"/>
          </p:nvPr>
        </p:nvSpPr>
        <p:spPr>
          <a:xfrm>
            <a:off x="27245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 [2/8]: Ia Spectra</a:t>
            </a:r>
            <a:endParaRPr/>
          </a:p>
        </p:txBody>
      </p:sp>
      <p:pic>
        <p:nvPicPr>
          <p:cNvPr id="150" name="Google Shape;150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1650" y="884375"/>
            <a:ext cx="8120684" cy="38209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8"/>
          <p:cNvSpPr txBox="1"/>
          <p:nvPr>
            <p:ph type="title"/>
          </p:nvPr>
        </p:nvSpPr>
        <p:spPr>
          <a:xfrm>
            <a:off x="27245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 [3/8]: What else can Ia spectra probe?</a:t>
            </a:r>
            <a:endParaRPr/>
          </a:p>
        </p:txBody>
      </p:sp>
      <p:sp>
        <p:nvSpPr>
          <p:cNvPr id="156" name="Google Shape;156;p28"/>
          <p:cNvSpPr/>
          <p:nvPr/>
        </p:nvSpPr>
        <p:spPr>
          <a:xfrm>
            <a:off x="1507527" y="2225564"/>
            <a:ext cx="1205400" cy="1205400"/>
          </a:xfrm>
          <a:prstGeom prst="ellipse">
            <a:avLst/>
          </a:prstGeom>
          <a:solidFill>
            <a:schemeClr val="lt2"/>
          </a:solidFill>
          <a:ln cap="flat" cmpd="sng" w="88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4850" lIns="84850" spcFirstLastPara="1" rIns="84850" wrap="square" tIns="84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99"/>
          </a:p>
        </p:txBody>
      </p:sp>
      <p:sp>
        <p:nvSpPr>
          <p:cNvPr id="157" name="Google Shape;157;p28"/>
          <p:cNvSpPr/>
          <p:nvPr/>
        </p:nvSpPr>
        <p:spPr>
          <a:xfrm rot="5400000">
            <a:off x="895419" y="1613390"/>
            <a:ext cx="2429700" cy="2429700"/>
          </a:xfrm>
          <a:prstGeom prst="blockArc">
            <a:avLst>
              <a:gd fmla="val 10800000" name="adj1"/>
              <a:gd fmla="val 21561716" name="adj2"/>
              <a:gd fmla="val 13647" name="adj3"/>
            </a:avLst>
          </a:prstGeom>
          <a:solidFill>
            <a:schemeClr val="lt2"/>
          </a:solidFill>
          <a:ln cap="flat" cmpd="sng" w="88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4850" lIns="84850" spcFirstLastPara="1" rIns="84850" wrap="square" tIns="84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99"/>
          </a:p>
        </p:txBody>
      </p:sp>
      <p:sp>
        <p:nvSpPr>
          <p:cNvPr id="158" name="Google Shape;158;p28"/>
          <p:cNvSpPr/>
          <p:nvPr/>
        </p:nvSpPr>
        <p:spPr>
          <a:xfrm rot="5400000">
            <a:off x="223286" y="941212"/>
            <a:ext cx="3774000" cy="3774000"/>
          </a:xfrm>
          <a:prstGeom prst="blockArc">
            <a:avLst>
              <a:gd fmla="val 10800000" name="adj1"/>
              <a:gd fmla="val 21498231" name="adj2"/>
              <a:gd fmla="val 9818" name="adj3"/>
            </a:avLst>
          </a:prstGeom>
          <a:solidFill>
            <a:schemeClr val="lt2"/>
          </a:solidFill>
          <a:ln cap="flat" cmpd="sng" w="88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4850" lIns="84850" spcFirstLastPara="1" rIns="84850" wrap="square" tIns="84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99"/>
          </a:p>
        </p:txBody>
      </p:sp>
      <p:sp>
        <p:nvSpPr>
          <p:cNvPr id="159" name="Google Shape;159;p28"/>
          <p:cNvSpPr txBox="1"/>
          <p:nvPr/>
        </p:nvSpPr>
        <p:spPr>
          <a:xfrm>
            <a:off x="786311" y="2033425"/>
            <a:ext cx="883200" cy="158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⁵⁶Ni 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↓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⁵⁶Co 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↓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⁵⁶Fe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160" name="Google Shape;160;p28"/>
          <p:cNvCxnSpPr/>
          <p:nvPr/>
        </p:nvCxnSpPr>
        <p:spPr>
          <a:xfrm>
            <a:off x="2178711" y="2823300"/>
            <a:ext cx="21822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1" name="Google Shape;161;p28"/>
          <p:cNvSpPr txBox="1"/>
          <p:nvPr/>
        </p:nvSpPr>
        <p:spPr>
          <a:xfrm rot="-1507147">
            <a:off x="2305196" y="1523641"/>
            <a:ext cx="2275611" cy="57252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Si, S, Ca, Mg, O, C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62" name="Google Shape;162;p28"/>
          <p:cNvPicPr preferRelativeResize="0"/>
          <p:nvPr/>
        </p:nvPicPr>
        <p:blipFill rotWithShape="1">
          <a:blip r:embed="rId3">
            <a:alphaModFix/>
          </a:blip>
          <a:srcRect b="0" l="0" r="34314" t="0"/>
          <a:stretch/>
        </p:blipFill>
        <p:spPr>
          <a:xfrm>
            <a:off x="7692788" y="2403100"/>
            <a:ext cx="851100" cy="85035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28"/>
          <p:cNvSpPr/>
          <p:nvPr/>
        </p:nvSpPr>
        <p:spPr>
          <a:xfrm>
            <a:off x="4513300" y="1459425"/>
            <a:ext cx="1714500" cy="2737692"/>
          </a:xfrm>
          <a:prstGeom prst="clou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Dust and gas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</a:t>
            </a:r>
            <a:endParaRPr/>
          </a:p>
        </p:txBody>
      </p:sp>
      <p:cxnSp>
        <p:nvCxnSpPr>
          <p:cNvPr id="164" name="Google Shape;164;p28"/>
          <p:cNvCxnSpPr>
            <a:stCxn id="163" idx="0"/>
          </p:cNvCxnSpPr>
          <p:nvPr/>
        </p:nvCxnSpPr>
        <p:spPr>
          <a:xfrm flipH="1" rot="10800000">
            <a:off x="6226371" y="2823171"/>
            <a:ext cx="1393200" cy="5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5" name="Google Shape;165;p28"/>
          <p:cNvSpPr txBox="1"/>
          <p:nvPr/>
        </p:nvSpPr>
        <p:spPr>
          <a:xfrm>
            <a:off x="6226375" y="3862800"/>
            <a:ext cx="2844000" cy="128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Ia spectra can also probe the intervening material properties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9"/>
          <p:cNvSpPr txBox="1"/>
          <p:nvPr>
            <p:ph type="title"/>
          </p:nvPr>
        </p:nvSpPr>
        <p:spPr>
          <a:xfrm>
            <a:off x="27245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 [4/8]: The Sodium I D lines</a:t>
            </a:r>
            <a:endParaRPr/>
          </a:p>
        </p:txBody>
      </p:sp>
      <p:pic>
        <p:nvPicPr>
          <p:cNvPr id="171" name="Google Shape;171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1650" y="884375"/>
            <a:ext cx="8120684" cy="3820977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29"/>
          <p:cNvSpPr/>
          <p:nvPr/>
        </p:nvSpPr>
        <p:spPr>
          <a:xfrm>
            <a:off x="4959150" y="2129300"/>
            <a:ext cx="1327500" cy="165930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3" name="Google Shape;173;p29" title="SN2026aaiv_hr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32862" y="963000"/>
            <a:ext cx="7747835" cy="3820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0"/>
          <p:cNvSpPr txBox="1"/>
          <p:nvPr>
            <p:ph type="title"/>
          </p:nvPr>
        </p:nvSpPr>
        <p:spPr>
          <a:xfrm>
            <a:off x="27245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 [5/8]: Lira Relation</a:t>
            </a:r>
            <a:endParaRPr/>
          </a:p>
        </p:txBody>
      </p:sp>
      <p:pic>
        <p:nvPicPr>
          <p:cNvPr id="179" name="Google Shape;179;p30" title="Screenshot 2026-10-16 at 1.17.42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99950" y="572700"/>
            <a:ext cx="5754938" cy="417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30"/>
          <p:cNvSpPr txBox="1"/>
          <p:nvPr/>
        </p:nvSpPr>
        <p:spPr>
          <a:xfrm>
            <a:off x="272450" y="617600"/>
            <a:ext cx="3327600" cy="44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2"/>
                </a:solidFill>
                <a:latin typeface="Roboto Slab"/>
                <a:ea typeface="Roboto Slab"/>
                <a:cs typeface="Roboto Slab"/>
                <a:sym typeface="Roboto Slab"/>
              </a:rPr>
              <a:t>B-V</a:t>
            </a:r>
            <a:r>
              <a:rPr lang="en" sz="1700">
                <a:solidFill>
                  <a:schemeClr val="dk2"/>
                </a:solidFill>
                <a:latin typeface="Roboto Slab"/>
                <a:ea typeface="Roboto Slab"/>
                <a:cs typeface="Roboto Slab"/>
                <a:sym typeface="Roboto Slab"/>
              </a:rPr>
              <a:t>: how much more magnitude in the B-band (bluer light) than the V-band (redder light)</a:t>
            </a:r>
            <a:endParaRPr sz="1700">
              <a:solidFill>
                <a:schemeClr val="dk2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700">
                <a:solidFill>
                  <a:schemeClr val="dk2"/>
                </a:solidFill>
                <a:latin typeface="Roboto Slab"/>
                <a:ea typeface="Roboto Slab"/>
                <a:cs typeface="Roboto Slab"/>
                <a:sym typeface="Roboto Slab"/>
              </a:rPr>
              <a:t>E(</a:t>
            </a:r>
            <a:r>
              <a:rPr b="1" lang="en" sz="1700">
                <a:solidFill>
                  <a:schemeClr val="dk2"/>
                </a:solidFill>
                <a:latin typeface="Roboto Slab"/>
                <a:ea typeface="Roboto Slab"/>
                <a:cs typeface="Roboto Slab"/>
                <a:sym typeface="Roboto Slab"/>
              </a:rPr>
              <a:t>B-V)</a:t>
            </a:r>
            <a:r>
              <a:rPr lang="en" sz="1700">
                <a:solidFill>
                  <a:schemeClr val="dk2"/>
                </a:solidFill>
                <a:latin typeface="Roboto Slab"/>
                <a:ea typeface="Roboto Slab"/>
                <a:cs typeface="Roboto Slab"/>
                <a:sym typeface="Roboto Slab"/>
              </a:rPr>
              <a:t>: colour excess (compared to no extinction)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2"/>
                </a:solidFill>
                <a:latin typeface="Roboto Slab"/>
                <a:ea typeface="Roboto Slab"/>
                <a:cs typeface="Roboto Slab"/>
                <a:sym typeface="Roboto Slab"/>
              </a:rPr>
              <a:t>A</a:t>
            </a:r>
            <a:r>
              <a:rPr b="1" baseline="-25000" lang="en" sz="1700">
                <a:solidFill>
                  <a:schemeClr val="dk2"/>
                </a:solidFill>
                <a:latin typeface="Roboto Slab"/>
                <a:ea typeface="Roboto Slab"/>
                <a:cs typeface="Roboto Slab"/>
                <a:sym typeface="Roboto Slab"/>
              </a:rPr>
              <a:t>V </a:t>
            </a:r>
            <a:r>
              <a:rPr lang="en" sz="1700">
                <a:solidFill>
                  <a:schemeClr val="dk2"/>
                </a:solidFill>
                <a:latin typeface="Roboto Slab"/>
                <a:ea typeface="Roboto Slab"/>
                <a:cs typeface="Roboto Slab"/>
                <a:sym typeface="Roboto Slab"/>
              </a:rPr>
              <a:t>: observed V-band magnitude - intrinsic V-band magnitude</a:t>
            </a:r>
            <a:endParaRPr sz="1700">
              <a:solidFill>
                <a:schemeClr val="dk2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700">
              <a:solidFill>
                <a:schemeClr val="dk2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700">
                <a:solidFill>
                  <a:schemeClr val="dk2"/>
                </a:solidFill>
                <a:latin typeface="Roboto Slab"/>
                <a:ea typeface="Roboto Slab"/>
                <a:cs typeface="Roboto Slab"/>
                <a:sym typeface="Roboto Slab"/>
              </a:rPr>
              <a:t>R</a:t>
            </a:r>
            <a:r>
              <a:rPr b="1" baseline="-25000" lang="en" sz="1700">
                <a:solidFill>
                  <a:schemeClr val="dk2"/>
                </a:solidFill>
                <a:latin typeface="Roboto Slab"/>
                <a:ea typeface="Roboto Slab"/>
                <a:cs typeface="Roboto Slab"/>
                <a:sym typeface="Roboto Slab"/>
              </a:rPr>
              <a:t>V </a:t>
            </a:r>
            <a:r>
              <a:rPr lang="en" sz="1700">
                <a:solidFill>
                  <a:schemeClr val="dk2"/>
                </a:solidFill>
                <a:latin typeface="Roboto Slab"/>
                <a:ea typeface="Roboto Slab"/>
                <a:cs typeface="Roboto Slab"/>
                <a:sym typeface="Roboto Slab"/>
              </a:rPr>
              <a:t>= </a:t>
            </a:r>
            <a:r>
              <a:rPr b="1" lang="en" sz="1700">
                <a:solidFill>
                  <a:schemeClr val="dk2"/>
                </a:solidFill>
                <a:latin typeface="Roboto Slab"/>
                <a:ea typeface="Roboto Slab"/>
                <a:cs typeface="Roboto Slab"/>
                <a:sym typeface="Roboto Slab"/>
              </a:rPr>
              <a:t>A</a:t>
            </a:r>
            <a:r>
              <a:rPr b="1" baseline="-25000" lang="en" sz="1700">
                <a:solidFill>
                  <a:schemeClr val="dk2"/>
                </a:solidFill>
                <a:latin typeface="Roboto Slab"/>
                <a:ea typeface="Roboto Slab"/>
                <a:cs typeface="Roboto Slab"/>
                <a:sym typeface="Roboto Slab"/>
              </a:rPr>
              <a:t>V</a:t>
            </a:r>
            <a:r>
              <a:rPr lang="en" sz="1700">
                <a:solidFill>
                  <a:schemeClr val="dk2"/>
                </a:solidFill>
                <a:latin typeface="Roboto Slab"/>
                <a:ea typeface="Roboto Slab"/>
                <a:cs typeface="Roboto Slab"/>
                <a:sym typeface="Roboto Slab"/>
              </a:rPr>
              <a:t> / </a:t>
            </a:r>
            <a:r>
              <a:rPr b="1" lang="en" sz="1700">
                <a:solidFill>
                  <a:schemeClr val="dk2"/>
                </a:solidFill>
                <a:latin typeface="Roboto Slab"/>
                <a:ea typeface="Roboto Slab"/>
                <a:cs typeface="Roboto Slab"/>
                <a:sym typeface="Roboto Slab"/>
              </a:rPr>
              <a:t>E(B-V)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1"/>
          <p:cNvSpPr txBox="1"/>
          <p:nvPr>
            <p:ph type="title"/>
          </p:nvPr>
        </p:nvSpPr>
        <p:spPr>
          <a:xfrm>
            <a:off x="27245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 [6/8]: Na I D as an extinction tracer</a:t>
            </a:r>
            <a:endParaRPr/>
          </a:p>
        </p:txBody>
      </p:sp>
      <p:pic>
        <p:nvPicPr>
          <p:cNvPr id="186" name="Google Shape;186;p31" title="Screenshot from 2026-10-15 23-47-0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86600" y="477454"/>
            <a:ext cx="2486700" cy="440852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31"/>
          <p:cNvSpPr txBox="1"/>
          <p:nvPr/>
        </p:nvSpPr>
        <p:spPr>
          <a:xfrm>
            <a:off x="445900" y="1287675"/>
            <a:ext cx="4211100" cy="20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Equivalent widths (EWs) of the individual components of Na I D correlate with extinction</a:t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accent5"/>
                </a:solidFill>
              </a:rPr>
              <a:t>Poznanski et al. (2012)</a:t>
            </a:r>
            <a:endParaRPr u="sng">
              <a:solidFill>
                <a:schemeClr val="accent5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188" name="Google Shape;188;p31"/>
          <p:cNvCxnSpPr/>
          <p:nvPr/>
        </p:nvCxnSpPr>
        <p:spPr>
          <a:xfrm rot="10800000">
            <a:off x="4857875" y="3641525"/>
            <a:ext cx="2394000" cy="737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9" name="Google Shape;189;p31"/>
          <p:cNvCxnSpPr>
            <a:endCxn id="190" idx="3"/>
          </p:cNvCxnSpPr>
          <p:nvPr/>
        </p:nvCxnSpPr>
        <p:spPr>
          <a:xfrm rot="10800000">
            <a:off x="4952575" y="4368325"/>
            <a:ext cx="2556300" cy="111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91" name="Google Shape;191;p31"/>
          <p:cNvSpPr txBox="1"/>
          <p:nvPr/>
        </p:nvSpPr>
        <p:spPr>
          <a:xfrm>
            <a:off x="3593175" y="3350175"/>
            <a:ext cx="1428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</a:rPr>
              <a:t>λ5890 (D</a:t>
            </a:r>
            <a:r>
              <a:rPr lang="en" sz="1600">
                <a:solidFill>
                  <a:schemeClr val="dk2"/>
                </a:solidFill>
              </a:rPr>
              <a:t>2</a:t>
            </a:r>
            <a:r>
              <a:rPr lang="en" sz="1800">
                <a:solidFill>
                  <a:schemeClr val="dk2"/>
                </a:solidFill>
              </a:rPr>
              <a:t>)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90" name="Google Shape;190;p31"/>
          <p:cNvSpPr txBox="1"/>
          <p:nvPr/>
        </p:nvSpPr>
        <p:spPr>
          <a:xfrm>
            <a:off x="3560275" y="4137475"/>
            <a:ext cx="1392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λ5896 (D</a:t>
            </a:r>
            <a:r>
              <a:rPr lang="en" sz="1600">
                <a:solidFill>
                  <a:schemeClr val="dk2"/>
                </a:solidFill>
              </a:rPr>
              <a:t>1</a:t>
            </a:r>
            <a:r>
              <a:rPr lang="en" sz="1800">
                <a:solidFill>
                  <a:schemeClr val="dk2"/>
                </a:solidFill>
              </a:rPr>
              <a:t>)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2"/>
          <p:cNvSpPr txBox="1"/>
          <p:nvPr>
            <p:ph type="title"/>
          </p:nvPr>
        </p:nvSpPr>
        <p:spPr>
          <a:xfrm>
            <a:off x="27245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 [7/8]: Na ID as an extinction tracer</a:t>
            </a:r>
            <a:endParaRPr/>
          </a:p>
        </p:txBody>
      </p:sp>
      <p:sp>
        <p:nvSpPr>
          <p:cNvPr id="197" name="Google Shape;197;p32"/>
          <p:cNvSpPr txBox="1"/>
          <p:nvPr/>
        </p:nvSpPr>
        <p:spPr>
          <a:xfrm>
            <a:off x="445900" y="773025"/>
            <a:ext cx="4450500" cy="455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Equivalent widths (EWs) of the individual components of Na I D  correlate with extinction</a:t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accent5"/>
                </a:solidFill>
              </a:rPr>
              <a:t>Poznanski et al. (2012)</a:t>
            </a:r>
            <a:endParaRPr u="sng">
              <a:solidFill>
                <a:schemeClr val="accent5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Logarithm of the color excess linear with respect to the equivalent widths</a:t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Here they used quasars and galaxies mainly from the Sloan Digital Sky Survey 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98" name="Google Shape;198;p32" title="Screenshot from 2026-10-16 00-20-4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64719" y="495000"/>
            <a:ext cx="2569956" cy="45560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3"/>
          <p:cNvSpPr txBox="1"/>
          <p:nvPr>
            <p:ph type="title"/>
          </p:nvPr>
        </p:nvSpPr>
        <p:spPr>
          <a:xfrm>
            <a:off x="27245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 [8/8]: Na ID and SNe Ia </a:t>
            </a:r>
            <a:endParaRPr/>
          </a:p>
        </p:txBody>
      </p:sp>
      <p:pic>
        <p:nvPicPr>
          <p:cNvPr id="204" name="Google Shape;204;p33" title="Screenshot from 2026-10-16 00-38-5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55775" y="996275"/>
            <a:ext cx="3855299" cy="3614349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33"/>
          <p:cNvSpPr txBox="1"/>
          <p:nvPr/>
        </p:nvSpPr>
        <p:spPr>
          <a:xfrm>
            <a:off x="400700" y="1060900"/>
            <a:ext cx="4324800" cy="33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</a:rPr>
              <a:t>Attempt to apply the Poznanski relation to Type Ia SNe in </a:t>
            </a:r>
            <a:r>
              <a:rPr lang="en" u="sng">
                <a:solidFill>
                  <a:schemeClr val="accent5"/>
                </a:solidFill>
              </a:rPr>
              <a:t>Philips et al. (2013)</a:t>
            </a:r>
            <a:endParaRPr u="sng">
              <a:solidFill>
                <a:schemeClr val="accent5"/>
              </a:solidFill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</a:rPr>
              <a:t>Many SNe show a higher Na I D EW than expected</a:t>
            </a:r>
            <a:endParaRPr sz="1600">
              <a:solidFill>
                <a:schemeClr val="dk2"/>
              </a:solidFill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</a:rPr>
              <a:t>These same SNe have “Blueshifted” Na I D absorption profiles</a:t>
            </a:r>
            <a:endParaRPr sz="1600">
              <a:solidFill>
                <a:schemeClr val="dk2"/>
              </a:solidFill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</a:rPr>
              <a:t>EW is not always completely reliable to trace extinction </a:t>
            </a:r>
            <a:endParaRPr sz="1600">
              <a:solidFill>
                <a:schemeClr val="dk2"/>
              </a:solidFill>
            </a:endParaRPr>
          </a:p>
        </p:txBody>
      </p:sp>
      <p:cxnSp>
        <p:nvCxnSpPr>
          <p:cNvPr id="206" name="Google Shape;206;p33"/>
          <p:cNvCxnSpPr/>
          <p:nvPr/>
        </p:nvCxnSpPr>
        <p:spPr>
          <a:xfrm flipH="1">
            <a:off x="2559500" y="1775500"/>
            <a:ext cx="7200" cy="3498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7" name="Google Shape;207;p33"/>
          <p:cNvCxnSpPr/>
          <p:nvPr/>
        </p:nvCxnSpPr>
        <p:spPr>
          <a:xfrm flipH="1">
            <a:off x="2559500" y="3364350"/>
            <a:ext cx="7200" cy="3498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4"/>
          <p:cNvSpPr txBox="1"/>
          <p:nvPr>
            <p:ph type="title"/>
          </p:nvPr>
        </p:nvSpPr>
        <p:spPr>
          <a:xfrm>
            <a:off x="27245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1620"/>
              <a:t>Our observations</a:t>
            </a:r>
            <a:r>
              <a:rPr lang="en" sz="1620"/>
              <a:t> [1/2]: targets</a:t>
            </a:r>
            <a:endParaRPr sz="162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1620"/>
          </a:p>
        </p:txBody>
      </p:sp>
      <p:sp>
        <p:nvSpPr>
          <p:cNvPr id="213" name="Google Shape;213;p34"/>
          <p:cNvSpPr txBox="1"/>
          <p:nvPr/>
        </p:nvSpPr>
        <p:spPr>
          <a:xfrm>
            <a:off x="689475" y="572700"/>
            <a:ext cx="1584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SN2026zwp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14" name="Google Shape;214;p34"/>
          <p:cNvSpPr txBox="1"/>
          <p:nvPr/>
        </p:nvSpPr>
        <p:spPr>
          <a:xfrm>
            <a:off x="6635100" y="572700"/>
            <a:ext cx="1444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SN2026aaiv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15" name="Google Shape;215;p34"/>
          <p:cNvSpPr txBox="1"/>
          <p:nvPr/>
        </p:nvSpPr>
        <p:spPr>
          <a:xfrm>
            <a:off x="3516238" y="572700"/>
            <a:ext cx="1532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SN2026aacj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216" name="Google Shape;216;p34" title="Screenshot from 2026-10-15 23-29-3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3675" y="1017725"/>
            <a:ext cx="2015549" cy="2144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34" title="Screenshot from 2026-10-15 23-30-36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28125" y="1017725"/>
            <a:ext cx="1908325" cy="20307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34" title="Screenshot from 2026-10-15 23-31-36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90201" y="1017725"/>
            <a:ext cx="2134626" cy="2008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34" title="Screenshot from 2026-10-15 23-33-39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92825" y="3026475"/>
            <a:ext cx="2201550" cy="1606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34" title="Screenshot from 2026-10-15 23-36-23.png"/>
          <p:cNvPicPr preferRelativeResize="0"/>
          <p:nvPr/>
        </p:nvPicPr>
        <p:blipFill rotWithShape="1">
          <a:blip r:embed="rId7">
            <a:alphaModFix/>
          </a:blip>
          <a:srcRect b="0" l="0" r="1478" t="0"/>
          <a:stretch/>
        </p:blipFill>
        <p:spPr>
          <a:xfrm>
            <a:off x="6290200" y="3026475"/>
            <a:ext cx="2323276" cy="166974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34" title="Screenshot from 2026-10-15 23-40-24.png"/>
          <p:cNvPicPr preferRelativeResize="0"/>
          <p:nvPr/>
        </p:nvPicPr>
        <p:blipFill rotWithShape="1">
          <a:blip r:embed="rId8">
            <a:alphaModFix/>
          </a:blip>
          <a:srcRect b="0" l="0" r="725" t="0"/>
          <a:stretch/>
        </p:blipFill>
        <p:spPr>
          <a:xfrm>
            <a:off x="2912131" y="3126187"/>
            <a:ext cx="2853744" cy="14703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22" name="Google Shape;222;p34"/>
          <p:cNvCxnSpPr/>
          <p:nvPr/>
        </p:nvCxnSpPr>
        <p:spPr>
          <a:xfrm flipH="1" rot="10800000">
            <a:off x="7153350" y="2074825"/>
            <a:ext cx="187200" cy="2736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3" name="Google Shape;223;p34"/>
          <p:cNvCxnSpPr/>
          <p:nvPr/>
        </p:nvCxnSpPr>
        <p:spPr>
          <a:xfrm flipH="1" rot="10800000">
            <a:off x="4071225" y="2074825"/>
            <a:ext cx="187200" cy="2736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4" name="Google Shape;224;p34"/>
          <p:cNvCxnSpPr/>
          <p:nvPr/>
        </p:nvCxnSpPr>
        <p:spPr>
          <a:xfrm flipH="1" rot="10800000">
            <a:off x="1167000" y="2110825"/>
            <a:ext cx="283200" cy="2016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5"/>
          <p:cNvSpPr txBox="1"/>
          <p:nvPr>
            <p:ph type="title"/>
          </p:nvPr>
        </p:nvSpPr>
        <p:spPr>
          <a:xfrm>
            <a:off x="27245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observations [2/2]: targets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0" name="Google Shape;230;p35" title="Screenshot from 2026-10-15 23-36-23.png"/>
          <p:cNvPicPr preferRelativeResize="0"/>
          <p:nvPr/>
        </p:nvPicPr>
        <p:blipFill rotWithShape="1">
          <a:blip r:embed="rId3">
            <a:alphaModFix/>
          </a:blip>
          <a:srcRect b="0" l="0" r="1478" t="0"/>
          <a:stretch/>
        </p:blipFill>
        <p:spPr>
          <a:xfrm>
            <a:off x="5749238" y="3043150"/>
            <a:ext cx="2323276" cy="166974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35" title="false_rgb_SN2026aaiv.png"/>
          <p:cNvPicPr preferRelativeResize="0"/>
          <p:nvPr/>
        </p:nvPicPr>
        <p:blipFill rotWithShape="1">
          <a:blip r:embed="rId4">
            <a:alphaModFix/>
          </a:blip>
          <a:srcRect b="11441" l="19735" r="4970" t="3618"/>
          <a:stretch/>
        </p:blipFill>
        <p:spPr>
          <a:xfrm>
            <a:off x="1230450" y="760050"/>
            <a:ext cx="3212298" cy="3623398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35"/>
          <p:cNvSpPr txBox="1"/>
          <p:nvPr/>
        </p:nvSpPr>
        <p:spPr>
          <a:xfrm>
            <a:off x="6188463" y="572700"/>
            <a:ext cx="1444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SN2026aaiv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233" name="Google Shape;233;p35" title="Screenshot from 2026-10-15 23-31-36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43551" y="1034400"/>
            <a:ext cx="2134626" cy="20087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34" name="Google Shape;234;p35"/>
          <p:cNvCxnSpPr/>
          <p:nvPr/>
        </p:nvCxnSpPr>
        <p:spPr>
          <a:xfrm flipH="1" rot="10800000">
            <a:off x="6663500" y="2089225"/>
            <a:ext cx="187200" cy="2736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5" name="Google Shape;235;p35"/>
          <p:cNvCxnSpPr/>
          <p:nvPr/>
        </p:nvCxnSpPr>
        <p:spPr>
          <a:xfrm flipH="1" rot="10800000">
            <a:off x="2464800" y="2616025"/>
            <a:ext cx="187200" cy="2736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36" name="Google Shape;236;p35"/>
          <p:cNvSpPr txBox="1"/>
          <p:nvPr/>
        </p:nvSpPr>
        <p:spPr>
          <a:xfrm>
            <a:off x="3479500" y="4014150"/>
            <a:ext cx="1152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0000"/>
                </a:solidFill>
              </a:rPr>
              <a:t>13/10/2026</a:t>
            </a:r>
            <a:endParaRPr sz="12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36"/>
          <p:cNvSpPr txBox="1"/>
          <p:nvPr/>
        </p:nvSpPr>
        <p:spPr>
          <a:xfrm>
            <a:off x="342909" y="171450"/>
            <a:ext cx="8435700" cy="395700"/>
          </a:xfrm>
          <a:prstGeom prst="rect">
            <a:avLst/>
          </a:prstGeom>
          <a:noFill/>
          <a:ln>
            <a:noFill/>
          </a:ln>
        </p:spPr>
        <p:txBody>
          <a:bodyPr anchorCtr="0" anchor="t" bIns="20575" lIns="34275" spcFirstLastPara="1" rIns="34275" wrap="square" tIns="20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300" u="none" cap="none" strike="noStrike">
                <a:solidFill>
                  <a:srgbClr val="1E276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reduction with IRAF</a:t>
            </a:r>
            <a:endParaRPr sz="1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iraf_banner.png" id="242" name="Google Shape;242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7200" y="788670"/>
            <a:ext cx="4869180" cy="11484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raf_readme.png" id="243" name="Google Shape;243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7200" y="2057400"/>
            <a:ext cx="4869180" cy="1922618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36"/>
          <p:cNvSpPr/>
          <p:nvPr/>
        </p:nvSpPr>
        <p:spPr>
          <a:xfrm>
            <a:off x="5418125" y="1206350"/>
            <a:ext cx="3326100" cy="2453700"/>
          </a:xfrm>
          <a:prstGeom prst="roundRect">
            <a:avLst>
              <a:gd fmla="val 5000" name="adj"/>
            </a:avLst>
          </a:prstGeom>
          <a:solidFill>
            <a:srgbClr val="E8EEFA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36"/>
          <p:cNvSpPr txBox="1"/>
          <p:nvPr/>
        </p:nvSpPr>
        <p:spPr>
          <a:xfrm>
            <a:off x="5589419" y="1261600"/>
            <a:ext cx="3154800" cy="22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20575" lIns="34275" spcFirstLastPara="1" rIns="34275" wrap="square" tIns="20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1E276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IRAF — Image Reduction and Analysis Facility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i="0" lang="en" sz="1200" u="none" cap="none" strike="noStrike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 A collection of several hundred tasks grouped in packages: images (headers, statistics), ccdred (bias, flat), onedspec / twodspec (extraction, wavelength and flux calibration, spectral analysis)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i="0" lang="en" sz="1200" u="none" cap="none" strike="noStrike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 Every step is recorded in the FITS header (DOPCOR, DEREDDEN, …)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i="0" lang="en" sz="1200" u="none" cap="none" strike="noStrike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 PyRAF: the same tasks called from Python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1E276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Tasks used in this work: dopcor, deredden, splot (e–e, k–</a:t>
            </a:r>
            <a:r>
              <a:rPr b="1" lang="en" sz="1200">
                <a:solidFill>
                  <a:srgbClr val="1E276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</a:t>
            </a:r>
            <a:r>
              <a:rPr b="1" i="0" lang="en" sz="1200" u="none" cap="none" strike="noStrike">
                <a:solidFill>
                  <a:srgbClr val="1E276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), imheader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6" name="Google Shape;246;p36"/>
          <p:cNvSpPr txBox="1"/>
          <p:nvPr/>
        </p:nvSpPr>
        <p:spPr>
          <a:xfrm>
            <a:off x="354150" y="4531345"/>
            <a:ext cx="8435700" cy="41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0575" lIns="34275" spcFirstLastPara="1" rIns="34275" wrap="square" tIns="20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Further reading and installation: </a:t>
            </a:r>
            <a:r>
              <a:rPr i="0" lang="en" sz="1200" u="none" cap="none" strike="noStrike">
                <a:solidFill>
                  <a:srgbClr val="1F4FD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https://github.com/iraf-community/iraf</a:t>
            </a:r>
            <a:r>
              <a:rPr i="0" lang="en" sz="1200" u="none" cap="none" strike="noStrike">
                <a:solidFill>
                  <a:srgbClr val="5A647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(source code, binary packages for Linux and macOS, documentation and forum)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37"/>
          <p:cNvSpPr txBox="1"/>
          <p:nvPr/>
        </p:nvSpPr>
        <p:spPr>
          <a:xfrm>
            <a:off x="342909" y="171450"/>
            <a:ext cx="8435565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20575" lIns="34275" spcFirstLastPara="1" rIns="34275" wrap="square" tIns="20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3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From the 2D frame to the 1D spectrum</a:t>
            </a:r>
            <a:endParaRPr sz="1100"/>
          </a:p>
        </p:txBody>
      </p:sp>
      <p:sp>
        <p:nvSpPr>
          <p:cNvPr id="252" name="Google Shape;252;p37"/>
          <p:cNvSpPr txBox="1"/>
          <p:nvPr/>
        </p:nvSpPr>
        <p:spPr>
          <a:xfrm>
            <a:off x="342909" y="630936"/>
            <a:ext cx="8435700" cy="41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0575" lIns="34275" spcFirstLastPara="1" rIns="34275" wrap="square" tIns="20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1E276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Methods:  raw spectra</a:t>
            </a:r>
            <a:r>
              <a:rPr i="0" lang="en" sz="1200" u="none" cap="none" strike="noStrike">
                <a:solidFill>
                  <a:srgbClr val="B0B6C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→  deredden (Milky Way extinction)  →  Doppler correction  →  Na I D equivalent width  →  convolution for colour  →  A</a:t>
            </a:r>
            <a:r>
              <a:rPr baseline="-25000" i="0" lang="en" sz="1200" u="none" cap="none" strike="noStrike">
                <a:solidFill>
                  <a:srgbClr val="B0B6C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endParaRPr baseline="-25000"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spec2d_to_1d_SN2026aaiv.png" id="253" name="Google Shape;253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3675" y="1120600"/>
            <a:ext cx="5885651" cy="310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37"/>
          <p:cNvSpPr/>
          <p:nvPr/>
        </p:nvSpPr>
        <p:spPr>
          <a:xfrm>
            <a:off x="6240950" y="960125"/>
            <a:ext cx="2606100" cy="2987700"/>
          </a:xfrm>
          <a:prstGeom prst="roundRect">
            <a:avLst>
              <a:gd fmla="val 5000" name="adj"/>
            </a:avLst>
          </a:prstGeom>
          <a:solidFill>
            <a:srgbClr val="E8EEFA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37"/>
          <p:cNvSpPr txBox="1"/>
          <p:nvPr/>
        </p:nvSpPr>
        <p:spPr>
          <a:xfrm>
            <a:off x="6309495" y="1120597"/>
            <a:ext cx="2469000" cy="25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20575" lIns="34275" spcFirstLastPara="1" rIns="34275" wrap="square" tIns="20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1E276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the pipeline did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i="0" lang="en" sz="1200" u="none" cap="none" strike="noStrike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 Bias, flat field, cosmic-ray cleaning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i="0" lang="en" sz="1200" u="none" cap="none" strike="noStrike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 Trace the SN and extract the spectrum in an aperture around it (IRAF apall); the sky is measured on both sides of the trace and subtracted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i="0" lang="en" sz="1200" u="none" cap="none" strike="noStrike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 Wavelength calibration with Ne and HgCd arc lamps; flux calibration with a spectrophotometric standard star; telluric correction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i="0" lang="en" sz="1200" u="none" cap="none" strike="noStrike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 Result: the 1D spectrum below, F</a:t>
            </a:r>
            <a:r>
              <a:rPr baseline="-25000" i="0" lang="en" sz="1200" u="none" cap="none" strike="noStrike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λ</a:t>
            </a:r>
            <a:r>
              <a:rPr i="0" lang="en" sz="1200" u="none" cap="none" strike="noStrike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vs wavelength — our starting point ("raw spectrum")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6" name="Google Shape;256;p37"/>
          <p:cNvSpPr txBox="1"/>
          <p:nvPr/>
        </p:nvSpPr>
        <p:spPr>
          <a:xfrm>
            <a:off x="342900" y="4348810"/>
            <a:ext cx="5692200" cy="41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0575" lIns="34275" spcFirstLastPara="1" rIns="34275" wrap="square" tIns="20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SN 2026aaiv, 300 s, Asiago 1.82 m + AFOSC, grism 4, 2.5″ slit, 2026-10-13. Top: the 2D frame, wavelength axis from the sky lines. Bottom: the extracted spectrum.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38"/>
          <p:cNvSpPr txBox="1"/>
          <p:nvPr/>
        </p:nvSpPr>
        <p:spPr>
          <a:xfrm>
            <a:off x="342909" y="171450"/>
            <a:ext cx="8435700" cy="395700"/>
          </a:xfrm>
          <a:prstGeom prst="rect">
            <a:avLst/>
          </a:prstGeom>
          <a:noFill/>
          <a:ln>
            <a:noFill/>
          </a:ln>
        </p:spPr>
        <p:txBody>
          <a:bodyPr anchorCtr="0" anchor="t" bIns="20575" lIns="34275" spcFirstLastPara="1" rIns="34275" wrap="square" tIns="20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300" u="none" cap="none" strike="noStrike">
                <a:solidFill>
                  <a:srgbClr val="1E276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reduction: raw spectrum and Milky Way extinction</a:t>
            </a:r>
            <a:endParaRPr sz="1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2" name="Google Shape;262;p38"/>
          <p:cNvSpPr txBox="1"/>
          <p:nvPr/>
        </p:nvSpPr>
        <p:spPr>
          <a:xfrm>
            <a:off x="342909" y="630936"/>
            <a:ext cx="8435700" cy="41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0575" lIns="34275" spcFirstLastPara="1" rIns="34275" wrap="square" tIns="20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1E276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Methods:  raw spectra</a:t>
            </a:r>
            <a:r>
              <a:rPr i="0" lang="en" sz="1200" u="none" cap="none" strike="noStrike">
                <a:solidFill>
                  <a:srgbClr val="B0B6C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→  </a:t>
            </a:r>
            <a:r>
              <a:rPr b="1" i="0" lang="en" sz="1200" u="none" cap="none" strike="noStrike">
                <a:solidFill>
                  <a:srgbClr val="1E276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deredden (Milky Way extinction)</a:t>
            </a:r>
            <a:r>
              <a:rPr i="0" lang="en" sz="1200" u="none" cap="none" strike="noStrike">
                <a:solidFill>
                  <a:srgbClr val="B0B6C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→  Doppler correction  →  Na I D equivalent width  →  convolution for colour  →  A</a:t>
            </a:r>
            <a:r>
              <a:rPr baseline="-25000" i="0" lang="en" sz="1200" u="none" cap="none" strike="noStrike">
                <a:solidFill>
                  <a:srgbClr val="B0B6C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endParaRPr baseline="-25000"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overlay_SN2026aaiv_step12.png" id="263" name="Google Shape;263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7200" y="1081001"/>
            <a:ext cx="3120391" cy="21452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overlay_SN2026zwp_step12.png" id="264" name="Google Shape;264;p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00558" y="1081010"/>
            <a:ext cx="3120391" cy="2145269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38"/>
          <p:cNvSpPr/>
          <p:nvPr/>
        </p:nvSpPr>
        <p:spPr>
          <a:xfrm>
            <a:off x="6823900" y="1105703"/>
            <a:ext cx="2023200" cy="1437000"/>
          </a:xfrm>
          <a:prstGeom prst="roundRect">
            <a:avLst>
              <a:gd fmla="val 5000" name="adj"/>
            </a:avLst>
          </a:prstGeom>
          <a:solidFill>
            <a:srgbClr val="E8EEFA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38"/>
          <p:cNvSpPr txBox="1"/>
          <p:nvPr/>
        </p:nvSpPr>
        <p:spPr>
          <a:xfrm>
            <a:off x="6892449" y="1206941"/>
            <a:ext cx="1886100" cy="12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20575" lIns="34275" spcFirstLastPara="1" rIns="34275" wrap="square" tIns="20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1E276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Galactic extinction</a:t>
            </a:r>
            <a:endParaRPr sz="1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i="0" lang="en" sz="1000" u="none" cap="none" strike="noStrike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 E(B−V) from the NED extinction calculator (Schlafly &amp; Finkbeiner 2011) at the SN position</a:t>
            </a:r>
            <a:endParaRPr sz="1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i="0" lang="en" sz="1000" u="none" cap="none" strike="noStrike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 A</a:t>
            </a:r>
            <a:r>
              <a:rPr baseline="-25000" lang="en" sz="1000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i="0" lang="en" sz="1000" u="none" cap="none" strike="noStrike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3.1 × E(B−V)</a:t>
            </a:r>
            <a:endParaRPr sz="1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i="0" lang="en" sz="1000" u="none" cap="none" strike="noStrike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 Red curve: the flux rises, more in the blue than in the red</a:t>
            </a:r>
            <a:endParaRPr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7" name="Google Shape;267;p38"/>
          <p:cNvSpPr txBox="1"/>
          <p:nvPr/>
        </p:nvSpPr>
        <p:spPr>
          <a:xfrm>
            <a:off x="298475" y="3616200"/>
            <a:ext cx="2982300" cy="226200"/>
          </a:xfrm>
          <a:prstGeom prst="rect">
            <a:avLst/>
          </a:prstGeom>
          <a:noFill/>
          <a:ln>
            <a:noFill/>
          </a:ln>
        </p:spPr>
        <p:txBody>
          <a:bodyPr anchorCtr="0" anchor="t" bIns="20575" lIns="34275" spcFirstLastPara="1" rIns="34275" wrap="square" tIns="20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1E276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MW extinction in V (NED)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268" name="Google Shape;268;p38"/>
          <p:cNvGraphicFramePr/>
          <p:nvPr/>
        </p:nvGraphicFramePr>
        <p:xfrm>
          <a:off x="298475" y="392620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{992AD407-C6A8-41B1-B636-6FCA18469071}</a:tableStyleId>
              </a:tblPr>
              <a:tblGrid>
                <a:gridCol w="1165875"/>
                <a:gridCol w="960125"/>
                <a:gridCol w="960125"/>
              </a:tblGrid>
              <a:tr h="219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SN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41150" marL="41150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E(B−V)</a:t>
                      </a:r>
                      <a:r>
                        <a:rPr baseline="-25000" lang="en" sz="10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MW</a:t>
                      </a:r>
                      <a:endParaRPr baseline="-25000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41150" marL="41150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r>
                        <a:rPr baseline="-25000" lang="en" sz="10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V, MW</a:t>
                      </a:r>
                      <a:endParaRPr baseline="-25000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41150" marL="41150">
                    <a:solidFill>
                      <a:srgbClr val="1E2761"/>
                    </a:solidFill>
                  </a:tcPr>
                </a:tc>
              </a:tr>
              <a:tr h="219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SN 2026aacj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41150" marL="411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0.071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41150" marL="411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0.220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41150" marL="41150">
                    <a:solidFill>
                      <a:srgbClr val="FFFFFF"/>
                    </a:solidFill>
                  </a:tcPr>
                </a:tc>
              </a:tr>
              <a:tr h="219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SN 2026zwp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41150" marL="41150">
                    <a:solidFill>
                      <a:srgbClr val="E8EE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0.040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41150" marL="41150">
                    <a:solidFill>
                      <a:srgbClr val="E8EE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0.123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41150" marL="41150">
                    <a:solidFill>
                      <a:srgbClr val="E8EEFA"/>
                    </a:solidFill>
                  </a:tcPr>
                </a:tc>
              </a:tr>
              <a:tr h="219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SN 2026aaiv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41150" marL="411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0.081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41150" marL="411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0.250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41150" marL="4115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9" name="Google Shape;269;p38"/>
          <p:cNvSpPr txBox="1"/>
          <p:nvPr/>
        </p:nvSpPr>
        <p:spPr>
          <a:xfrm>
            <a:off x="3634837" y="3497580"/>
            <a:ext cx="5212200" cy="1437000"/>
          </a:xfrm>
          <a:prstGeom prst="rect">
            <a:avLst/>
          </a:prstGeom>
          <a:noFill/>
          <a:ln>
            <a:noFill/>
          </a:ln>
        </p:spPr>
        <p:txBody>
          <a:bodyPr anchorCtr="0" anchor="t" bIns="20575" lIns="34275" spcFirstLastPara="1" rIns="34275" wrap="square" tIns="20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Black: </a:t>
            </a:r>
            <a:r>
              <a:rPr i="0" lang="en" sz="1200" u="none" cap="none" strike="noStrike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raw spectrum, Asiago 1.82 m + AFOSC, grism 4, 2026-10-13; wavelength- and flux-calibrated, telluric-corrected.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Dereddening is done first, in the observed frame, because the Milky Way dust is at z = 0. </a:t>
            </a:r>
            <a:r>
              <a:rPr i="0" lang="en" sz="1200" u="none" cap="none" strike="noStrike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After this step the colour of the spectrum carries only the host reddening. Equivalent widths are not changed (line and continuum are scaled by the same factor).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i="0" lang="en" sz="1200" u="none" cap="none" strike="noStrike">
                <a:solidFill>
                  <a:srgbClr val="5A647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2007 SNe (archival): E(B−V)</a:t>
            </a:r>
            <a:r>
              <a:rPr baseline="-25000" i="0" lang="en" sz="1200" u="none" cap="none" strike="noStrike">
                <a:solidFill>
                  <a:srgbClr val="5A647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MW</a:t>
            </a:r>
            <a:r>
              <a:rPr i="0" lang="en" sz="1200" u="none" cap="none" strike="noStrike">
                <a:solidFill>
                  <a:srgbClr val="5A647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E(B−V)</a:t>
            </a:r>
            <a:r>
              <a:rPr baseline="-25000" i="0" lang="en" sz="1200" u="none" cap="none" strike="noStrike">
                <a:solidFill>
                  <a:srgbClr val="5A647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host</a:t>
            </a:r>
            <a:r>
              <a:rPr i="0" lang="en" sz="1200" u="none" cap="none" strike="noStrike">
                <a:solidFill>
                  <a:srgbClr val="5A647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from Burns et al. (2014); R</a:t>
            </a:r>
            <a:r>
              <a:rPr baseline="-25000" i="0" lang="en" sz="1200" u="none" cap="none" strike="noStrike">
                <a:solidFill>
                  <a:srgbClr val="5A647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i="0" lang="en" sz="1200" u="none" cap="none" strike="noStrike">
                <a:solidFill>
                  <a:srgbClr val="5A647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3.1.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39"/>
          <p:cNvSpPr txBox="1"/>
          <p:nvPr/>
        </p:nvSpPr>
        <p:spPr>
          <a:xfrm>
            <a:off x="342909" y="171450"/>
            <a:ext cx="8435565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20575" lIns="34275" spcFirstLastPara="1" rIns="34275" wrap="square" tIns="20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3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Doppler correction</a:t>
            </a:r>
            <a:endParaRPr sz="1100"/>
          </a:p>
        </p:txBody>
      </p:sp>
      <p:sp>
        <p:nvSpPr>
          <p:cNvPr id="275" name="Google Shape;275;p39"/>
          <p:cNvSpPr txBox="1"/>
          <p:nvPr/>
        </p:nvSpPr>
        <p:spPr>
          <a:xfrm>
            <a:off x="342909" y="630936"/>
            <a:ext cx="8435700" cy="41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0575" lIns="34275" spcFirstLastPara="1" rIns="34275" wrap="square" tIns="20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1E276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Methods:  </a:t>
            </a:r>
            <a:r>
              <a:rPr i="0" lang="en" sz="1200" u="none" cap="none" strike="noStrike">
                <a:solidFill>
                  <a:srgbClr val="B0B6C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raw spectra  →  deredden (Milky Way extinction)  →  </a:t>
            </a:r>
            <a:r>
              <a:rPr b="1" i="0" lang="en" sz="1200" u="none" cap="none" strike="noStrike">
                <a:solidFill>
                  <a:srgbClr val="1E276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Doppler correction</a:t>
            </a:r>
            <a:r>
              <a:rPr i="0" lang="en" sz="1200" u="none" cap="none" strike="noStrike">
                <a:solidFill>
                  <a:srgbClr val="B0B6C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→  Na I D equivalent width  →  convolution for colour  →  A</a:t>
            </a:r>
            <a:r>
              <a:rPr baseline="-25000" i="0" lang="en" sz="1200" u="none" cap="none" strike="noStrike">
                <a:solidFill>
                  <a:srgbClr val="B0B6C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endParaRPr baseline="-25000"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overlay_SN2026aaiv_step123.png" id="276" name="Google Shape;276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0075" y="1065127"/>
            <a:ext cx="4046224" cy="27817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overlay_SN2026zwp_step123.png" id="277" name="Google Shape;277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32150" y="1065136"/>
            <a:ext cx="4046224" cy="2781763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39"/>
          <p:cNvSpPr/>
          <p:nvPr/>
        </p:nvSpPr>
        <p:spPr>
          <a:xfrm>
            <a:off x="377200" y="3977640"/>
            <a:ext cx="8401274" cy="925830"/>
          </a:xfrm>
          <a:prstGeom prst="roundRect">
            <a:avLst>
              <a:gd fmla="val 5000" name="adj"/>
            </a:avLst>
          </a:prstGeom>
          <a:solidFill>
            <a:srgbClr val="E8EEFA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39"/>
          <p:cNvSpPr txBox="1"/>
          <p:nvPr/>
        </p:nvSpPr>
        <p:spPr>
          <a:xfrm>
            <a:off x="480073" y="4032504"/>
            <a:ext cx="8229900" cy="634200"/>
          </a:xfrm>
          <a:prstGeom prst="rect">
            <a:avLst/>
          </a:prstGeom>
          <a:noFill/>
          <a:ln>
            <a:noFill/>
          </a:ln>
        </p:spPr>
        <p:txBody>
          <a:bodyPr anchorCtr="0" anchor="t" bIns="20575" lIns="34275" spcFirstLastPara="1" rIns="34275" wrap="square" tIns="20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IRAF dopcor (blue), applied to the dereddened spectrum: </a:t>
            </a:r>
            <a:r>
              <a:rPr i="0" lang="en" sz="1200" u="none" cap="none" strike="noStrike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λ</a:t>
            </a:r>
            <a:r>
              <a:rPr baseline="-25000" i="0" lang="en" sz="1200" u="none" cap="none" strike="noStrike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rest</a:t>
            </a:r>
            <a:r>
              <a:rPr i="0" lang="en" sz="1200" u="none" cap="none" strike="noStrike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λ</a:t>
            </a:r>
            <a:r>
              <a:rPr baseline="-25000" i="0" lang="en" sz="1200" u="none" cap="none" strike="noStrike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obs</a:t>
            </a:r>
            <a:r>
              <a:rPr i="0" lang="en" sz="1200" u="none" cap="none" strike="noStrike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/ (1+z) with the host redshift (TNS/NED). Every feature moves to its rest wavelength; the flux is not changed.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i="0" lang="en" sz="1200" u="none" cap="none" strike="noStrike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the rest frame the host Na I D is at 5890 Å; the Milky Way line (z = 0) ends up blueward of it, at 5890 / (1+z).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40"/>
          <p:cNvSpPr txBox="1"/>
          <p:nvPr/>
        </p:nvSpPr>
        <p:spPr>
          <a:xfrm>
            <a:off x="342909" y="171450"/>
            <a:ext cx="8435700" cy="395700"/>
          </a:xfrm>
          <a:prstGeom prst="rect">
            <a:avLst/>
          </a:prstGeom>
          <a:noFill/>
          <a:ln>
            <a:noFill/>
          </a:ln>
        </p:spPr>
        <p:txBody>
          <a:bodyPr anchorCtr="0" anchor="t" bIns="20575" lIns="34275" spcFirstLastPara="1" rIns="34275" wrap="square" tIns="20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3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Equivalent width, colour and A</a:t>
            </a:r>
            <a:r>
              <a:rPr b="1" baseline="-25000" i="0" lang="en" sz="23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V</a:t>
            </a:r>
            <a:endParaRPr baseline="-25000" sz="1100"/>
          </a:p>
        </p:txBody>
      </p:sp>
      <p:sp>
        <p:nvSpPr>
          <p:cNvPr id="285" name="Google Shape;285;p40"/>
          <p:cNvSpPr txBox="1"/>
          <p:nvPr/>
        </p:nvSpPr>
        <p:spPr>
          <a:xfrm>
            <a:off x="342909" y="630936"/>
            <a:ext cx="8435700" cy="41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0575" lIns="34275" spcFirstLastPara="1" rIns="34275" wrap="square" tIns="20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1E276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Methods:  </a:t>
            </a:r>
            <a:r>
              <a:rPr i="0" lang="en" sz="1200" u="none" cap="none" strike="noStrike">
                <a:solidFill>
                  <a:srgbClr val="B0B6C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raw spectra  →  deredden (Milky Way extinction)  →  Doppler correction  →  </a:t>
            </a:r>
            <a:r>
              <a:rPr b="1" i="0" lang="en" sz="1200" u="none" cap="none" strike="noStrike">
                <a:solidFill>
                  <a:srgbClr val="1E276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 I</a:t>
            </a:r>
            <a:r>
              <a:rPr b="1" i="0" lang="en" sz="1200" u="none" cap="none" strike="noStrike">
                <a:solidFill>
                  <a:srgbClr val="1E276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i="0" lang="en" sz="1200" u="none" cap="none" strike="noStrike">
                <a:solidFill>
                  <a:srgbClr val="1E276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 equivalent width</a:t>
            </a:r>
            <a:r>
              <a:rPr i="0" lang="en" sz="1200" u="none" cap="none" strike="noStrike">
                <a:solidFill>
                  <a:srgbClr val="B0B6C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→  </a:t>
            </a:r>
            <a:r>
              <a:rPr b="1" i="0" lang="en" sz="1200" u="none" cap="none" strike="noStrike">
                <a:solidFill>
                  <a:srgbClr val="1E276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convolution for colour</a:t>
            </a:r>
            <a:r>
              <a:rPr i="0" lang="en" sz="1200" u="none" cap="none" strike="noStrike">
                <a:solidFill>
                  <a:srgbClr val="B0B6C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→  </a:t>
            </a:r>
            <a:r>
              <a:rPr b="1" i="0" lang="en" sz="1200" u="none" cap="none" strike="noStrike">
                <a:solidFill>
                  <a:srgbClr val="1E276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="1" baseline="-25000" i="0" lang="en" sz="1200" u="none" cap="none" strike="noStrike">
                <a:solidFill>
                  <a:srgbClr val="1E276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endParaRPr baseline="-25000"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overlay_SN2026aaiv_NaID_ee.png" id="286" name="Google Shape;286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7288" y="1121470"/>
            <a:ext cx="3360421" cy="2310288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40"/>
          <p:cNvSpPr txBox="1"/>
          <p:nvPr/>
        </p:nvSpPr>
        <p:spPr>
          <a:xfrm>
            <a:off x="377200" y="3511296"/>
            <a:ext cx="3360600" cy="8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20575" lIns="34275" spcFirstLastPara="1" rIns="34275" wrap="square" tIns="20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5A647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SN 2026aaiv, Na ID region, splot e–e. </a:t>
            </a:r>
            <a:r>
              <a:rPr i="0" lang="en" sz="1000" u="none" cap="none" strike="noStrike">
                <a:solidFill>
                  <a:srgbClr val="5A647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Continuum between the two cursor points, tick at the measured centre. The absorption (EW 2.2 Å) is centred at 5873 Å, on the Milky Way Na I D (blue), not on the host line (red, 5890 Å): host EW &lt; 0.7 Å (limit).</a:t>
            </a:r>
            <a:endParaRPr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8" name="Google Shape;288;p40"/>
          <p:cNvSpPr/>
          <p:nvPr/>
        </p:nvSpPr>
        <p:spPr>
          <a:xfrm>
            <a:off x="3909164" y="960120"/>
            <a:ext cx="4937892" cy="1543050"/>
          </a:xfrm>
          <a:prstGeom prst="roundRect">
            <a:avLst>
              <a:gd fmla="val 5000" name="adj"/>
            </a:avLst>
          </a:prstGeom>
          <a:solidFill>
            <a:srgbClr val="E8EEFA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40"/>
          <p:cNvSpPr txBox="1"/>
          <p:nvPr/>
        </p:nvSpPr>
        <p:spPr>
          <a:xfrm>
            <a:off x="3998321" y="1001268"/>
            <a:ext cx="2331900" cy="1221600"/>
          </a:xfrm>
          <a:prstGeom prst="rect">
            <a:avLst/>
          </a:prstGeom>
          <a:noFill/>
          <a:ln>
            <a:noFill/>
          </a:ln>
        </p:spPr>
        <p:txBody>
          <a:bodyPr anchorCtr="0" anchor="t" bIns="20575" lIns="34275" spcFirstLastPara="1" rIns="34275" wrap="square" tIns="20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1E276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 ID equivalent width</a:t>
            </a:r>
            <a:endParaRPr sz="1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i="0" lang="en" sz="1000" u="none" cap="none" strike="noStrike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 IRAF splot on the corrected spectrum</a:t>
            </a:r>
            <a:endParaRPr sz="1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i="0" lang="en" sz="1000" u="none" cap="none" strike="noStrike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 e–e: straight continuum between two              cursor points (linear)</a:t>
            </a:r>
            <a:endParaRPr sz="1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i="0" lang="en" sz="1000" u="none" cap="none" strike="noStrike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 k–k: Gaussian fit (Gaussian)</a:t>
            </a:r>
            <a:endParaRPr sz="1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i="0" lang="en" sz="1000" u="none" cap="none" strike="noStrike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 Repeated with different continuum points: mean ± scatter; no line → upper limit</a:t>
            </a:r>
            <a:endParaRPr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0" name="Google Shape;290;p40"/>
          <p:cNvSpPr txBox="1"/>
          <p:nvPr/>
        </p:nvSpPr>
        <p:spPr>
          <a:xfrm>
            <a:off x="6412401" y="1001268"/>
            <a:ext cx="2366100" cy="10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20575" lIns="34275" spcFirstLastPara="1" rIns="34275" wrap="square" tIns="20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1E276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Colour by convolution → A</a:t>
            </a:r>
            <a:r>
              <a:rPr b="1" baseline="-25000" i="0" lang="en" sz="1000" u="none" cap="none" strike="noStrike">
                <a:solidFill>
                  <a:srgbClr val="1E276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endParaRPr baseline="-25000" sz="1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i="0" lang="en" sz="1000" u="none" cap="none" strike="noStrike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 Spectrum convolved with the B and V filter curves → B, V</a:t>
            </a:r>
            <a:endParaRPr sz="1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i="0" lang="en" sz="1000" u="none" cap="none" strike="noStrike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 Intrinsic colour from the Lira relation at the phase of the spectrum</a:t>
            </a:r>
            <a:endParaRPr sz="1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i="0" lang="en" sz="1000" u="none" cap="none" strike="noStrike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 E(B−V)</a:t>
            </a:r>
            <a:r>
              <a:rPr baseline="-25000" i="0" lang="en" sz="1000" u="none" cap="none" strike="noStrike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host</a:t>
            </a:r>
            <a:r>
              <a:rPr i="0" lang="en" sz="1000" u="none" cap="none" strike="noStrike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(B−V)</a:t>
            </a:r>
            <a:r>
              <a:rPr baseline="-25000" i="0" lang="en" sz="1000" u="none" cap="none" strike="noStrike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dered</a:t>
            </a:r>
            <a:r>
              <a:rPr i="0" lang="en" sz="1000" u="none" cap="none" strike="noStrike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− (B−V)₀</a:t>
            </a:r>
            <a:endParaRPr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1" name="Google Shape;291;p40"/>
          <p:cNvSpPr txBox="1"/>
          <p:nvPr/>
        </p:nvSpPr>
        <p:spPr>
          <a:xfrm>
            <a:off x="3909164" y="2606040"/>
            <a:ext cx="2400300" cy="226200"/>
          </a:xfrm>
          <a:prstGeom prst="rect">
            <a:avLst/>
          </a:prstGeom>
          <a:noFill/>
          <a:ln>
            <a:noFill/>
          </a:ln>
        </p:spPr>
        <p:txBody>
          <a:bodyPr anchorCtr="0" anchor="t" bIns="20575" lIns="34275" spcFirstLastPara="1" rIns="34275" wrap="square" tIns="20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1E276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Convolved photometry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292" name="Google Shape;292;p40"/>
          <p:cNvGraphicFramePr/>
          <p:nvPr/>
        </p:nvGraphicFramePr>
        <p:xfrm>
          <a:off x="3909164" y="284607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{992AD407-C6A8-41B1-B636-6FCA18469071}</a:tableStyleId>
              </a:tblPr>
              <a:tblGrid>
                <a:gridCol w="1028725"/>
                <a:gridCol w="548650"/>
                <a:gridCol w="617225"/>
                <a:gridCol w="685800"/>
                <a:gridCol w="617225"/>
                <a:gridCol w="685800"/>
                <a:gridCol w="754400"/>
              </a:tblGrid>
              <a:tr h="205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SN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41150" marL="41150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z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41150" marL="41150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41150" marL="41150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</a:t>
                      </a:r>
                      <a:r>
                        <a:rPr baseline="-25000" lang="en" sz="10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dered</a:t>
                      </a:r>
                      <a:endParaRPr baseline="-25000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41150" marL="41150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41150" marL="41150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</a:t>
                      </a:r>
                      <a:r>
                        <a:rPr baseline="-25000" lang="en" sz="10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dered</a:t>
                      </a:r>
                      <a:endParaRPr baseline="-25000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41150" marL="41150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(B−V)</a:t>
                      </a:r>
                      <a:r>
                        <a:rPr baseline="-25000" lang="en" sz="10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dered</a:t>
                      </a:r>
                      <a:endParaRPr baseline="-25000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41150" marL="41150">
                    <a:solidFill>
                      <a:srgbClr val="1E2761"/>
                    </a:solidFill>
                  </a:tcPr>
                </a:tc>
              </a:tr>
              <a:tr h="205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SN 2026aaiv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41150" marL="411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0.0027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41150" marL="411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15.67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41150" marL="411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15.34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41150" marL="411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14.42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41150" marL="411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14.16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41150" marL="411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1.180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41150" marL="41150">
                    <a:solidFill>
                      <a:srgbClr val="FFFFFF"/>
                    </a:solidFill>
                  </a:tcPr>
                </a:tc>
              </a:tr>
              <a:tr h="205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SN 2026zwp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41150" marL="41150">
                    <a:solidFill>
                      <a:srgbClr val="E8EE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0.021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41150" marL="41150">
                    <a:solidFill>
                      <a:srgbClr val="E8EE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17.54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41150" marL="41150">
                    <a:solidFill>
                      <a:srgbClr val="E8EE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17.36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41150" marL="41150">
                    <a:solidFill>
                      <a:srgbClr val="E8EE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16.52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41150" marL="41150">
                    <a:solidFill>
                      <a:srgbClr val="E8EE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16.35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41150" marL="41150">
                    <a:solidFill>
                      <a:srgbClr val="E8EE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1.010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41150" marL="41150">
                    <a:solidFill>
                      <a:srgbClr val="E8EEFA"/>
                    </a:solidFill>
                  </a:tcPr>
                </a:tc>
              </a:tr>
              <a:tr h="205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SN 2026aacj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41150" marL="411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0.02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41150" marL="411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17.82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41150" marL="411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17.51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41150" marL="411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16.93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41150" marL="411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16.69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41150" marL="411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0.820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41150" marL="4115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93" name="Google Shape;293;p40"/>
          <p:cNvSpPr txBox="1"/>
          <p:nvPr/>
        </p:nvSpPr>
        <p:spPr>
          <a:xfrm>
            <a:off x="3909164" y="3737610"/>
            <a:ext cx="2400300" cy="226200"/>
          </a:xfrm>
          <a:prstGeom prst="rect">
            <a:avLst/>
          </a:prstGeom>
          <a:noFill/>
          <a:ln>
            <a:noFill/>
          </a:ln>
        </p:spPr>
        <p:txBody>
          <a:bodyPr anchorCtr="0" anchor="t" bIns="20575" lIns="34275" spcFirstLastPara="1" rIns="34275" wrap="square" tIns="20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1E276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Lira relation → A</a:t>
            </a:r>
            <a:r>
              <a:rPr b="1" baseline="-25000" i="0" lang="en" sz="1200" u="none" cap="none" strike="noStrike">
                <a:solidFill>
                  <a:srgbClr val="1E276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endParaRPr baseline="-25000"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294" name="Google Shape;294;p40"/>
          <p:cNvGraphicFramePr/>
          <p:nvPr/>
        </p:nvGraphicFramePr>
        <p:xfrm>
          <a:off x="3909164" y="397764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{992AD407-C6A8-41B1-B636-6FCA18469071}</a:tableStyleId>
              </a:tblPr>
              <a:tblGrid>
                <a:gridCol w="1028725"/>
                <a:gridCol w="822975"/>
                <a:gridCol w="891550"/>
                <a:gridCol w="617225"/>
                <a:gridCol w="822975"/>
                <a:gridCol w="754400"/>
              </a:tblGrid>
              <a:tr h="205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SN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41150" marL="41150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r>
                        <a:rPr baseline="-25000" lang="en" sz="10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max</a:t>
                      </a:r>
                      <a:r>
                        <a:rPr lang="en" sz="10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(MJD)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41150" marL="41150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days since max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41150" marL="41150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(B−V)₀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41150" marL="41150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E(B−V)</a:t>
                      </a:r>
                      <a:r>
                        <a:rPr baseline="-25000" lang="en" sz="10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host</a:t>
                      </a:r>
                      <a:endParaRPr baseline="-25000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41150" marL="41150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r>
                        <a:rPr baseline="-25000" lang="en" sz="10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</a:t>
                      </a:r>
                      <a:endParaRPr baseline="-25000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41150" marL="41150">
                    <a:solidFill>
                      <a:srgbClr val="1E2761"/>
                    </a:solidFill>
                  </a:tcPr>
                </a:tc>
              </a:tr>
              <a:tr h="205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SN 2026aaiv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41150" marL="411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61300.01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41150" marL="411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26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41150" marL="411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1.007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41150" marL="411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0.173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41150" marL="411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0.535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41150" marL="41150">
                    <a:solidFill>
                      <a:srgbClr val="FFFFFF"/>
                    </a:solidFill>
                  </a:tcPr>
                </a:tc>
              </a:tr>
              <a:tr h="205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SN 2026zwp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41150" marL="41150">
                    <a:solidFill>
                      <a:srgbClr val="E8EE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61292.58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41150" marL="41150">
                    <a:solidFill>
                      <a:srgbClr val="E8EE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34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41150" marL="41150">
                    <a:solidFill>
                      <a:srgbClr val="E8EE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0.931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41150" marL="41150">
                    <a:solidFill>
                      <a:srgbClr val="E8EE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0.079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41150" marL="41150">
                    <a:solidFill>
                      <a:srgbClr val="E8EE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0.243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41150" marL="41150">
                    <a:solidFill>
                      <a:srgbClr val="E8EEFA"/>
                    </a:solidFill>
                  </a:tcPr>
                </a:tc>
              </a:tr>
              <a:tr h="205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SN 2026aacj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41150" marL="411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61299.86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41150" marL="411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27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41150" marL="411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0.998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41150" marL="411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−0.178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41150" marL="411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−0.552 (→ 0)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725" marB="13725" marR="41150" marL="4115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95" name="Google Shape;295;p40"/>
          <p:cNvSpPr txBox="1"/>
          <p:nvPr/>
        </p:nvSpPr>
        <p:spPr>
          <a:xfrm>
            <a:off x="409550" y="4322505"/>
            <a:ext cx="3360600" cy="6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20575" lIns="34275" spcFirstLastPara="1" rIns="34275" wrap="square" tIns="20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 I D EW (host), this sample: </a:t>
            </a:r>
            <a:r>
              <a:rPr i="0" lang="en" sz="1000" u="none" cap="none" strike="noStrike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2007af &lt; 0.07 Å, 2007bm 2.9 ± 0.4 Å, 2007le 1.55 ± 0.06 Å, 2012bm 2.6 ± 0.1 Å, 2026aacj 0.9 ± 0.1 Å, 2026zwp 0.8 ± 0.05 Å, 2026aaiv &lt; 0.7 Å (linear; Gaussian values agree).</a:t>
            </a:r>
            <a:endParaRPr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41"/>
          <p:cNvSpPr txBox="1"/>
          <p:nvPr>
            <p:ph idx="1" type="body"/>
          </p:nvPr>
        </p:nvSpPr>
        <p:spPr>
          <a:xfrm>
            <a:off x="311700" y="1152475"/>
            <a:ext cx="51915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/>
          </a:bodyPr>
          <a:lstStyle/>
          <a:p>
            <a:pPr indent="-35306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Detected Na ID lines: </a:t>
            </a:r>
            <a:r>
              <a:rPr lang="en">
                <a:solidFill>
                  <a:srgbClr val="0000FF"/>
                </a:solidFill>
              </a:rPr>
              <a:t>2007bm</a:t>
            </a:r>
            <a:r>
              <a:rPr lang="en"/>
              <a:t>, </a:t>
            </a:r>
            <a:r>
              <a:rPr lang="en">
                <a:solidFill>
                  <a:srgbClr val="0000FF"/>
                </a:solidFill>
              </a:rPr>
              <a:t>2007le</a:t>
            </a:r>
            <a:r>
              <a:rPr lang="en"/>
              <a:t>, </a:t>
            </a:r>
            <a:r>
              <a:rPr lang="en">
                <a:solidFill>
                  <a:srgbClr val="0000FF"/>
                </a:solidFill>
              </a:rPr>
              <a:t>2012bm</a:t>
            </a:r>
            <a:r>
              <a:rPr lang="en"/>
              <a:t>, and </a:t>
            </a:r>
            <a:r>
              <a:rPr lang="en">
                <a:solidFill>
                  <a:srgbClr val="FF9900"/>
                </a:solidFill>
              </a:rPr>
              <a:t>2026aaiv (high res)</a:t>
            </a:r>
            <a:endParaRPr>
              <a:solidFill>
                <a:srgbClr val="FF9900"/>
              </a:solidFill>
            </a:endParaRPr>
          </a:p>
          <a:p>
            <a:pPr indent="-35306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Undetected</a:t>
            </a:r>
            <a:r>
              <a:rPr lang="en"/>
              <a:t> Na ID lines: </a:t>
            </a:r>
            <a:r>
              <a:rPr lang="en">
                <a:solidFill>
                  <a:srgbClr val="0000FF"/>
                </a:solidFill>
              </a:rPr>
              <a:t>2007af</a:t>
            </a:r>
            <a:r>
              <a:rPr lang="en"/>
              <a:t>, </a:t>
            </a:r>
            <a:r>
              <a:rPr lang="en">
                <a:solidFill>
                  <a:srgbClr val="FF9900"/>
                </a:solidFill>
              </a:rPr>
              <a:t>2026aacj</a:t>
            </a:r>
            <a:r>
              <a:rPr lang="en"/>
              <a:t>, </a:t>
            </a:r>
            <a:r>
              <a:rPr lang="en">
                <a:solidFill>
                  <a:srgbClr val="FF9900"/>
                </a:solidFill>
              </a:rPr>
              <a:t>2026zwp</a:t>
            </a:r>
            <a:r>
              <a:rPr lang="en"/>
              <a:t>, </a:t>
            </a:r>
            <a:r>
              <a:rPr lang="en">
                <a:solidFill>
                  <a:srgbClr val="FF9900"/>
                </a:solidFill>
              </a:rPr>
              <a:t>2026aaiv (low res)</a:t>
            </a:r>
            <a:endParaRPr>
              <a:solidFill>
                <a:srgbClr val="FF99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br>
              <a:rPr lang="en"/>
            </a:br>
            <a:r>
              <a:rPr lang="en"/>
              <a:t>Key:</a:t>
            </a:r>
            <a:endParaRPr/>
          </a:p>
          <a:p>
            <a:pPr indent="-35306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FF"/>
              </a:buClr>
              <a:buSzPct val="100000"/>
              <a:buChar char="●"/>
            </a:pPr>
            <a:r>
              <a:rPr lang="en">
                <a:solidFill>
                  <a:srgbClr val="0000FF"/>
                </a:solidFill>
              </a:rPr>
              <a:t>Blue: archival observation</a:t>
            </a:r>
            <a:endParaRPr>
              <a:solidFill>
                <a:srgbClr val="0000FF"/>
              </a:solidFill>
            </a:endParaRPr>
          </a:p>
          <a:p>
            <a:pPr indent="-353060" lvl="0" marL="457200" rtl="0" algn="l"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ct val="100000"/>
              <a:buChar char="●"/>
            </a:pPr>
            <a:r>
              <a:rPr lang="en">
                <a:solidFill>
                  <a:srgbClr val="FF9900"/>
                </a:solidFill>
              </a:rPr>
              <a:t>Orange: new observation</a:t>
            </a:r>
            <a:endParaRPr>
              <a:solidFill>
                <a:srgbClr val="FF9900"/>
              </a:solidFill>
            </a:endParaRPr>
          </a:p>
        </p:txBody>
      </p:sp>
      <p:sp>
        <p:nvSpPr>
          <p:cNvPr id="301" name="Google Shape;301;p41"/>
          <p:cNvSpPr txBox="1"/>
          <p:nvPr>
            <p:ph type="title"/>
          </p:nvPr>
        </p:nvSpPr>
        <p:spPr>
          <a:xfrm>
            <a:off x="27245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120"/>
              <a:t>Results [1/3]: Equivalent Line Widths</a:t>
            </a:r>
            <a:endParaRPr sz="2120"/>
          </a:p>
        </p:txBody>
      </p:sp>
      <p:pic>
        <p:nvPicPr>
          <p:cNvPr id="302" name="Google Shape;302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03325" y="466100"/>
            <a:ext cx="3640677" cy="45827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42"/>
          <p:cNvSpPr txBox="1"/>
          <p:nvPr>
            <p:ph type="title"/>
          </p:nvPr>
        </p:nvSpPr>
        <p:spPr>
          <a:xfrm>
            <a:off x="27245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220"/>
              <a:t>Results [2/3]: Comparing v</a:t>
            </a:r>
            <a:r>
              <a:rPr lang="en" sz="2200"/>
              <a:t>s Empirical Relation (Milky Way)</a:t>
            </a:r>
            <a:endParaRPr sz="2200"/>
          </a:p>
        </p:txBody>
      </p:sp>
      <p:sp>
        <p:nvSpPr>
          <p:cNvPr id="308" name="Google Shape;308;p42"/>
          <p:cNvSpPr txBox="1"/>
          <p:nvPr>
            <p:ph idx="1" type="body"/>
          </p:nvPr>
        </p:nvSpPr>
        <p:spPr>
          <a:xfrm>
            <a:off x="311700" y="1152475"/>
            <a:ext cx="4152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55000" lnSpcReduction="20000"/>
          </a:bodyPr>
          <a:lstStyle/>
          <a:p>
            <a:pPr indent="-32639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Archival Data</a:t>
            </a:r>
            <a:endParaRPr/>
          </a:p>
          <a:p>
            <a:pPr indent="-312420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07bm, 07le, 12bm all are above the </a:t>
            </a:r>
            <a:r>
              <a:rPr lang="en" u="sng">
                <a:solidFill>
                  <a:schemeClr val="hlink"/>
                </a:solidFill>
                <a:hlinkClick r:id="rId3"/>
              </a:rPr>
              <a:t>Poznanski+12</a:t>
            </a:r>
            <a:r>
              <a:rPr lang="en"/>
              <a:t> MW relations as found by </a:t>
            </a:r>
            <a:r>
              <a:rPr lang="en" u="sng">
                <a:solidFill>
                  <a:schemeClr val="hlink"/>
                </a:solidFill>
                <a:hlinkClick r:id="rId4"/>
              </a:rPr>
              <a:t>Phillips+13</a:t>
            </a:r>
            <a:endParaRPr/>
          </a:p>
          <a:p>
            <a:pPr indent="-312420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07af sits below </a:t>
            </a:r>
            <a:r>
              <a:rPr lang="en" u="sng">
                <a:solidFill>
                  <a:schemeClr val="hlink"/>
                </a:solidFill>
                <a:hlinkClick r:id="rId5"/>
              </a:rPr>
              <a:t>Poznanski+12</a:t>
            </a:r>
            <a:r>
              <a:rPr lang="en"/>
              <a:t> MW relations</a:t>
            </a:r>
            <a:endParaRPr/>
          </a:p>
          <a:p>
            <a:pPr indent="-32639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Measured Data</a:t>
            </a:r>
            <a:endParaRPr/>
          </a:p>
          <a:p>
            <a:pPr indent="-312420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26aacj and 26zwp are upper limits so not actually constraints</a:t>
            </a:r>
            <a:endParaRPr/>
          </a:p>
          <a:p>
            <a:pPr indent="-312420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26aaiv:</a:t>
            </a:r>
            <a:endParaRPr/>
          </a:p>
          <a:p>
            <a:pPr indent="-298450" lvl="2" marL="1371600" rtl="0" algn="l">
              <a:spcBef>
                <a:spcPts val="0"/>
              </a:spcBef>
              <a:spcAft>
                <a:spcPts val="0"/>
              </a:spcAft>
              <a:buSzPct val="100000"/>
              <a:buChar char="■"/>
            </a:pPr>
            <a:r>
              <a:rPr lang="en"/>
              <a:t>LR is only upper limit</a:t>
            </a:r>
            <a:endParaRPr/>
          </a:p>
          <a:p>
            <a:pPr indent="-298450" lvl="2" marL="1371600" rtl="0" algn="l">
              <a:spcBef>
                <a:spcPts val="0"/>
              </a:spcBef>
              <a:spcAft>
                <a:spcPts val="0"/>
              </a:spcAft>
              <a:buSzPct val="100000"/>
              <a:buChar char="■"/>
            </a:pPr>
            <a:r>
              <a:rPr lang="en"/>
              <a:t>HR is consistent with </a:t>
            </a:r>
            <a:r>
              <a:rPr lang="en" u="sng">
                <a:solidFill>
                  <a:schemeClr val="hlink"/>
                </a:solidFill>
                <a:hlinkClick r:id="rId6"/>
              </a:rPr>
              <a:t>Poznanski+12</a:t>
            </a:r>
            <a:endParaRPr/>
          </a:p>
          <a:p>
            <a:pPr indent="-32639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en"/>
              <a:t>Takeaway: Our results are consistent with Phillips+13 showing that SNeIa bias high in EW for a given A</a:t>
            </a:r>
            <a:r>
              <a:rPr b="1" baseline="-25000" lang="en"/>
              <a:t>v</a:t>
            </a:r>
            <a:endParaRPr b="1"/>
          </a:p>
        </p:txBody>
      </p:sp>
      <p:pic>
        <p:nvPicPr>
          <p:cNvPr id="309" name="Google Shape;309;p4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407600" y="725100"/>
            <a:ext cx="4736400" cy="39963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43"/>
          <p:cNvSpPr txBox="1"/>
          <p:nvPr>
            <p:ph type="title"/>
          </p:nvPr>
        </p:nvSpPr>
        <p:spPr>
          <a:xfrm>
            <a:off x="27245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20"/>
              <a:t>Results [3/3]: Comparing vs </a:t>
            </a:r>
            <a:r>
              <a:rPr lang="en" sz="2200"/>
              <a:t>Empirical Relation (SNe Ia)</a:t>
            </a:r>
            <a:endParaRPr sz="2200"/>
          </a:p>
        </p:txBody>
      </p:sp>
      <p:sp>
        <p:nvSpPr>
          <p:cNvPr id="315" name="Google Shape;315;p43"/>
          <p:cNvSpPr txBox="1"/>
          <p:nvPr>
            <p:ph idx="1" type="body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When we compare to SNe Ia </a:t>
            </a:r>
            <a:r>
              <a:rPr lang="en" sz="2000"/>
              <a:t>empirical</a:t>
            </a:r>
            <a:r>
              <a:rPr lang="en" sz="2000"/>
              <a:t> relation(s) from </a:t>
            </a:r>
            <a:r>
              <a:rPr lang="en" sz="2000" u="sng">
                <a:solidFill>
                  <a:schemeClr val="hlink"/>
                </a:solidFill>
                <a:hlinkClick r:id="rId3"/>
              </a:rPr>
              <a:t>Turatto+03</a:t>
            </a:r>
            <a:r>
              <a:rPr lang="en" sz="2000"/>
              <a:t>, our observations are consistent</a:t>
            </a:r>
            <a:endParaRPr sz="2000"/>
          </a:p>
        </p:txBody>
      </p:sp>
      <p:pic>
        <p:nvPicPr>
          <p:cNvPr id="316" name="Google Shape;316;p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24400" y="725100"/>
            <a:ext cx="4419600" cy="37290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44"/>
          <p:cNvSpPr txBox="1"/>
          <p:nvPr>
            <p:ph type="title"/>
          </p:nvPr>
        </p:nvSpPr>
        <p:spPr>
          <a:xfrm>
            <a:off x="27245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/>
              <a:t>The SN2026aaiv case of study </a:t>
            </a:r>
            <a:endParaRPr/>
          </a:p>
        </p:txBody>
      </p:sp>
      <p:pic>
        <p:nvPicPr>
          <p:cNvPr id="322" name="Google Shape;322;p44" title="SN2026aaiv_lr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15160"/>
            <a:ext cx="5008000" cy="2474651"/>
          </a:xfrm>
          <a:prstGeom prst="rect">
            <a:avLst/>
          </a:prstGeom>
          <a:noFill/>
          <a:ln>
            <a:noFill/>
          </a:ln>
        </p:spPr>
      </p:pic>
      <p:pic>
        <p:nvPicPr>
          <p:cNvPr id="323" name="Google Shape;323;p44" title="Gemini_Generated_Image_47bo5747bo5747bo.jpg"/>
          <p:cNvPicPr preferRelativeResize="0"/>
          <p:nvPr/>
        </p:nvPicPr>
        <p:blipFill rotWithShape="1">
          <a:blip r:embed="rId4">
            <a:alphaModFix/>
          </a:blip>
          <a:srcRect b="0" l="19631" r="28478" t="0"/>
          <a:stretch/>
        </p:blipFill>
        <p:spPr>
          <a:xfrm flipH="1">
            <a:off x="4968721" y="459275"/>
            <a:ext cx="1426350" cy="1534100"/>
          </a:xfrm>
          <a:prstGeom prst="rect">
            <a:avLst/>
          </a:prstGeom>
          <a:noFill/>
          <a:ln>
            <a:noFill/>
          </a:ln>
        </p:spPr>
      </p:pic>
      <p:sp>
        <p:nvSpPr>
          <p:cNvPr id="324" name="Google Shape;324;p44"/>
          <p:cNvSpPr txBox="1"/>
          <p:nvPr/>
        </p:nvSpPr>
        <p:spPr>
          <a:xfrm>
            <a:off x="7453075" y="756100"/>
            <a:ext cx="1247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325" name="Google Shape;325;p44"/>
          <p:cNvSpPr txBox="1"/>
          <p:nvPr/>
        </p:nvSpPr>
        <p:spPr>
          <a:xfrm>
            <a:off x="6490750" y="856875"/>
            <a:ext cx="25038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We can’t see so absorption line feel free to group and make fun of us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45"/>
          <p:cNvSpPr txBox="1"/>
          <p:nvPr>
            <p:ph type="title"/>
          </p:nvPr>
        </p:nvSpPr>
        <p:spPr>
          <a:xfrm>
            <a:off x="27245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/>
              <a:t>The SN2026aaiv case of study </a:t>
            </a:r>
            <a:endParaRPr/>
          </a:p>
        </p:txBody>
      </p:sp>
      <p:pic>
        <p:nvPicPr>
          <p:cNvPr id="331" name="Google Shape;331;p45" title="SN2026aaiv_lr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15160"/>
            <a:ext cx="5008000" cy="2474651"/>
          </a:xfrm>
          <a:prstGeom prst="rect">
            <a:avLst/>
          </a:prstGeom>
          <a:noFill/>
          <a:ln>
            <a:noFill/>
          </a:ln>
        </p:spPr>
      </p:pic>
      <p:pic>
        <p:nvPicPr>
          <p:cNvPr id="332" name="Google Shape;332;p45" title="SN2026aaiv_hr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36000" y="2673720"/>
            <a:ext cx="5008000" cy="2469781"/>
          </a:xfrm>
          <a:prstGeom prst="rect">
            <a:avLst/>
          </a:prstGeom>
          <a:noFill/>
          <a:ln>
            <a:noFill/>
          </a:ln>
        </p:spPr>
      </p:pic>
      <p:pic>
        <p:nvPicPr>
          <p:cNvPr id="333" name="Google Shape;333;p45" title="Gemini_Generated_Image_47bo5747bo5747bo.jpg"/>
          <p:cNvPicPr preferRelativeResize="0"/>
          <p:nvPr/>
        </p:nvPicPr>
        <p:blipFill rotWithShape="1">
          <a:blip r:embed="rId5">
            <a:alphaModFix/>
          </a:blip>
          <a:srcRect b="0" l="19631" r="28478" t="0"/>
          <a:stretch/>
        </p:blipFill>
        <p:spPr>
          <a:xfrm flipH="1">
            <a:off x="4968721" y="459275"/>
            <a:ext cx="1426350" cy="153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4" name="Google Shape;334;p45" title="Gemini_Generated_Image_trctn8trctn8trct.jpg"/>
          <p:cNvPicPr preferRelativeResize="0"/>
          <p:nvPr/>
        </p:nvPicPr>
        <p:blipFill rotWithShape="1">
          <a:blip r:embed="rId6">
            <a:alphaModFix/>
          </a:blip>
          <a:srcRect b="0" l="19390" r="18020" t="0"/>
          <a:stretch/>
        </p:blipFill>
        <p:spPr>
          <a:xfrm>
            <a:off x="2326050" y="2835077"/>
            <a:ext cx="1798149" cy="1603375"/>
          </a:xfrm>
          <a:prstGeom prst="rect">
            <a:avLst/>
          </a:prstGeom>
          <a:noFill/>
          <a:ln>
            <a:noFill/>
          </a:ln>
        </p:spPr>
      </p:pic>
      <p:sp>
        <p:nvSpPr>
          <p:cNvPr id="335" name="Google Shape;335;p45"/>
          <p:cNvSpPr txBox="1"/>
          <p:nvPr/>
        </p:nvSpPr>
        <p:spPr>
          <a:xfrm>
            <a:off x="7453075" y="756100"/>
            <a:ext cx="1247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336" name="Google Shape;336;p45"/>
          <p:cNvSpPr txBox="1"/>
          <p:nvPr/>
        </p:nvSpPr>
        <p:spPr>
          <a:xfrm>
            <a:off x="6490750" y="856875"/>
            <a:ext cx="25038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We can’t see so absorption line feel free to group and make fun of us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337" name="Google Shape;337;p45"/>
          <p:cNvSpPr txBox="1"/>
          <p:nvPr/>
        </p:nvSpPr>
        <p:spPr>
          <a:xfrm>
            <a:off x="162225" y="3316875"/>
            <a:ext cx="22437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We can see them so they go back quietly to their place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46"/>
          <p:cNvSpPr txBox="1"/>
          <p:nvPr>
            <p:ph type="title"/>
          </p:nvPr>
        </p:nvSpPr>
        <p:spPr>
          <a:xfrm>
            <a:off x="27245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/>
              <a:t>The SN2026aaiv case of study </a:t>
            </a:r>
            <a:endParaRPr/>
          </a:p>
        </p:txBody>
      </p:sp>
      <p:pic>
        <p:nvPicPr>
          <p:cNvPr id="343" name="Google Shape;343;p46" title="SN2026aaiv_lr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15160"/>
            <a:ext cx="5008000" cy="2474651"/>
          </a:xfrm>
          <a:prstGeom prst="rect">
            <a:avLst/>
          </a:prstGeom>
          <a:noFill/>
          <a:ln>
            <a:noFill/>
          </a:ln>
        </p:spPr>
      </p:pic>
      <p:pic>
        <p:nvPicPr>
          <p:cNvPr id="344" name="Google Shape;344;p46" title="SN2026aaiv_hr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36000" y="2673720"/>
            <a:ext cx="5008000" cy="2469781"/>
          </a:xfrm>
          <a:prstGeom prst="rect">
            <a:avLst/>
          </a:prstGeom>
          <a:noFill/>
          <a:ln>
            <a:noFill/>
          </a:ln>
        </p:spPr>
      </p:pic>
      <p:pic>
        <p:nvPicPr>
          <p:cNvPr id="345" name="Google Shape;345;p46" title="Gemini_Generated_Image_47bo5747bo5747bo.jpg"/>
          <p:cNvPicPr preferRelativeResize="0"/>
          <p:nvPr/>
        </p:nvPicPr>
        <p:blipFill rotWithShape="1">
          <a:blip r:embed="rId5">
            <a:alphaModFix/>
          </a:blip>
          <a:srcRect b="0" l="19631" r="28478" t="0"/>
          <a:stretch/>
        </p:blipFill>
        <p:spPr>
          <a:xfrm flipH="1">
            <a:off x="4968721" y="459275"/>
            <a:ext cx="1426350" cy="153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6" name="Google Shape;346;p46" title="Gemini_Generated_Image_trctn8trctn8trct.jpg"/>
          <p:cNvPicPr preferRelativeResize="0"/>
          <p:nvPr/>
        </p:nvPicPr>
        <p:blipFill rotWithShape="1">
          <a:blip r:embed="rId6">
            <a:alphaModFix/>
          </a:blip>
          <a:srcRect b="0" l="19390" r="18020" t="0"/>
          <a:stretch/>
        </p:blipFill>
        <p:spPr>
          <a:xfrm>
            <a:off x="2326050" y="2835077"/>
            <a:ext cx="1798149" cy="1603375"/>
          </a:xfrm>
          <a:prstGeom prst="rect">
            <a:avLst/>
          </a:prstGeom>
          <a:noFill/>
          <a:ln>
            <a:noFill/>
          </a:ln>
        </p:spPr>
      </p:pic>
      <p:sp>
        <p:nvSpPr>
          <p:cNvPr id="347" name="Google Shape;347;p46"/>
          <p:cNvSpPr txBox="1"/>
          <p:nvPr/>
        </p:nvSpPr>
        <p:spPr>
          <a:xfrm>
            <a:off x="7453075" y="756100"/>
            <a:ext cx="1247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348" name="Google Shape;348;p46"/>
          <p:cNvSpPr txBox="1"/>
          <p:nvPr/>
        </p:nvSpPr>
        <p:spPr>
          <a:xfrm>
            <a:off x="6490750" y="856875"/>
            <a:ext cx="25038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We can’t see so absorption line feel free to group and make fun of us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349" name="Google Shape;349;p46"/>
          <p:cNvSpPr txBox="1"/>
          <p:nvPr/>
        </p:nvSpPr>
        <p:spPr>
          <a:xfrm>
            <a:off x="162225" y="3316875"/>
            <a:ext cx="22437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We can see them, they go back quietly to their place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350" name="Google Shape;350;p46"/>
          <p:cNvSpPr txBox="1"/>
          <p:nvPr/>
        </p:nvSpPr>
        <p:spPr>
          <a:xfrm>
            <a:off x="5908900" y="2266200"/>
            <a:ext cx="3134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No </a:t>
            </a:r>
            <a:r>
              <a:rPr lang="en" sz="1800" u="sng">
                <a:solidFill>
                  <a:schemeClr val="hlink"/>
                </a:solidFill>
                <a:hlinkClick r:id="rId7"/>
              </a:rPr>
              <a:t>Phillips2013</a:t>
            </a:r>
            <a:r>
              <a:rPr lang="en" sz="1800">
                <a:solidFill>
                  <a:schemeClr val="dk1"/>
                </a:solidFill>
              </a:rPr>
              <a:t> blue shifting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351" name="Google Shape;351;p46"/>
          <p:cNvSpPr/>
          <p:nvPr/>
        </p:nvSpPr>
        <p:spPr>
          <a:xfrm>
            <a:off x="5883828" y="2295659"/>
            <a:ext cx="3061800" cy="376500"/>
          </a:xfrm>
          <a:prstGeom prst="rect">
            <a:avLst/>
          </a:prstGeom>
          <a:noFill/>
          <a:ln cap="flat" cmpd="sng" w="19050">
            <a:solidFill>
              <a:srgbClr val="1980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47"/>
          <p:cNvSpPr txBox="1"/>
          <p:nvPr>
            <p:ph type="title"/>
          </p:nvPr>
        </p:nvSpPr>
        <p:spPr>
          <a:xfrm>
            <a:off x="27245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Low resolution limitation</a:t>
            </a:r>
            <a:endParaRPr/>
          </a:p>
        </p:txBody>
      </p:sp>
      <p:sp>
        <p:nvSpPr>
          <p:cNvPr id="357" name="Google Shape;357;p47"/>
          <p:cNvSpPr txBox="1"/>
          <p:nvPr/>
        </p:nvSpPr>
        <p:spPr>
          <a:xfrm>
            <a:off x="1806825" y="962300"/>
            <a:ext cx="5931000" cy="21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dk1"/>
                </a:solidFill>
              </a:rPr>
              <a:t>Low resolution spectra make it hard to identify absorption lines when continuum is decreasing steeply</a:t>
            </a:r>
            <a:endParaRPr sz="2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48"/>
          <p:cNvSpPr txBox="1"/>
          <p:nvPr>
            <p:ph type="title"/>
          </p:nvPr>
        </p:nvSpPr>
        <p:spPr>
          <a:xfrm>
            <a:off x="27245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SN2026aaiv case of study ( +SN2026aacj)</a:t>
            </a:r>
            <a:endParaRPr/>
          </a:p>
        </p:txBody>
      </p:sp>
      <p:sp>
        <p:nvSpPr>
          <p:cNvPr id="363" name="Google Shape;363;p48"/>
          <p:cNvSpPr txBox="1"/>
          <p:nvPr>
            <p:ph idx="1" type="body"/>
          </p:nvPr>
        </p:nvSpPr>
        <p:spPr>
          <a:xfrm>
            <a:off x="311700" y="4242950"/>
            <a:ext cx="8520600" cy="64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6070" lvl="0" marL="457200" rtl="0" algn="l">
              <a:spcBef>
                <a:spcPts val="0"/>
              </a:spcBef>
              <a:spcAft>
                <a:spcPts val="0"/>
              </a:spcAft>
              <a:buSzPts val="1220"/>
              <a:buChar char="●"/>
            </a:pPr>
            <a:r>
              <a:rPr lang="en" sz="1220"/>
              <a:t>Lira relation is only calibrated from 30-90d since maximum but two of our observations are &lt;30d since max</a:t>
            </a:r>
            <a:endParaRPr sz="1220"/>
          </a:p>
          <a:p>
            <a:pPr indent="-295910" lvl="1" marL="914400" rtl="0" algn="l">
              <a:spcBef>
                <a:spcPts val="0"/>
              </a:spcBef>
              <a:spcAft>
                <a:spcPts val="0"/>
              </a:spcAft>
              <a:buSzPts val="1060"/>
              <a:buChar char="○"/>
            </a:pPr>
            <a:r>
              <a:rPr lang="en" sz="1060"/>
              <a:t>We should repeat measurements in ~7 days to be comfortably inside the calibrated Lira region</a:t>
            </a:r>
            <a:endParaRPr sz="1060"/>
          </a:p>
        </p:txBody>
      </p:sp>
      <p:pic>
        <p:nvPicPr>
          <p:cNvPr id="364" name="Google Shape;364;p48" title="Screenshot 2026-10-16 at 1.17.42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951262"/>
            <a:ext cx="3749401" cy="2719924"/>
          </a:xfrm>
          <a:prstGeom prst="rect">
            <a:avLst/>
          </a:prstGeom>
          <a:noFill/>
          <a:ln>
            <a:noFill/>
          </a:ln>
        </p:spPr>
      </p:pic>
      <p:sp>
        <p:nvSpPr>
          <p:cNvPr id="365" name="Google Shape;365;p48"/>
          <p:cNvSpPr txBox="1"/>
          <p:nvPr/>
        </p:nvSpPr>
        <p:spPr>
          <a:xfrm>
            <a:off x="311700" y="3711700"/>
            <a:ext cx="1337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</a:rPr>
              <a:t>Fig: </a:t>
            </a:r>
            <a:r>
              <a:rPr lang="en" sz="1000" u="sng">
                <a:solidFill>
                  <a:schemeClr val="hlink"/>
                </a:solidFill>
                <a:hlinkClick r:id="rId4"/>
              </a:rPr>
              <a:t>Folatelli+10</a:t>
            </a:r>
            <a:endParaRPr sz="1000">
              <a:solidFill>
                <a:schemeClr val="dk2"/>
              </a:solidFill>
            </a:endParaRPr>
          </a:p>
        </p:txBody>
      </p:sp>
      <p:pic>
        <p:nvPicPr>
          <p:cNvPr id="366" name="Google Shape;366;p4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897001" y="638275"/>
            <a:ext cx="5247001" cy="3345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49"/>
          <p:cNvSpPr txBox="1"/>
          <p:nvPr>
            <p:ph type="title"/>
          </p:nvPr>
        </p:nvSpPr>
        <p:spPr>
          <a:xfrm>
            <a:off x="27245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Other Limitations</a:t>
            </a:r>
            <a:endParaRPr/>
          </a:p>
        </p:txBody>
      </p:sp>
      <p:pic>
        <p:nvPicPr>
          <p:cNvPr id="372" name="Google Shape;372;p49" title="Gemini_Generated_Image_5422ae5422ae5422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2450" y="926222"/>
            <a:ext cx="5410601" cy="3019675"/>
          </a:xfrm>
          <a:prstGeom prst="rect">
            <a:avLst/>
          </a:prstGeom>
          <a:noFill/>
          <a:ln>
            <a:noFill/>
          </a:ln>
        </p:spPr>
      </p:pic>
      <p:sp>
        <p:nvSpPr>
          <p:cNvPr id="373" name="Google Shape;373;p49"/>
          <p:cNvSpPr txBox="1"/>
          <p:nvPr/>
        </p:nvSpPr>
        <p:spPr>
          <a:xfrm>
            <a:off x="6402350" y="1630025"/>
            <a:ext cx="2022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222222"/>
                </a:solidFill>
              </a:rPr>
              <a:t>Very bad seeing</a:t>
            </a:r>
            <a:endParaRPr sz="1800">
              <a:solidFill>
                <a:srgbClr val="222222"/>
              </a:solidFill>
            </a:endParaRPr>
          </a:p>
        </p:txBody>
      </p:sp>
      <p:sp>
        <p:nvSpPr>
          <p:cNvPr id="374" name="Google Shape;374;p49"/>
          <p:cNvSpPr txBox="1"/>
          <p:nvPr/>
        </p:nvSpPr>
        <p:spPr>
          <a:xfrm>
            <a:off x="5832825" y="2499250"/>
            <a:ext cx="2778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222222"/>
                </a:solidFill>
              </a:rPr>
              <a:t>Degrading of resolution</a:t>
            </a:r>
            <a:endParaRPr sz="1800">
              <a:solidFill>
                <a:srgbClr val="222222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50"/>
          <p:cNvSpPr txBox="1"/>
          <p:nvPr>
            <p:ph type="title"/>
          </p:nvPr>
        </p:nvSpPr>
        <p:spPr>
          <a:xfrm>
            <a:off x="27245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Other Limitations</a:t>
            </a:r>
            <a:endParaRPr/>
          </a:p>
        </p:txBody>
      </p:sp>
      <p:sp>
        <p:nvSpPr>
          <p:cNvPr id="380" name="Google Shape;380;p50"/>
          <p:cNvSpPr txBox="1"/>
          <p:nvPr>
            <p:ph idx="1" type="body"/>
          </p:nvPr>
        </p:nvSpPr>
        <p:spPr>
          <a:xfrm>
            <a:off x="844475" y="946250"/>
            <a:ext cx="6873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We use constant R</a:t>
            </a:r>
            <a:r>
              <a:rPr baseline="-25000" lang="en">
                <a:solidFill>
                  <a:schemeClr val="dk1"/>
                </a:solidFill>
              </a:rPr>
              <a:t>V</a:t>
            </a:r>
            <a:r>
              <a:rPr lang="en">
                <a:solidFill>
                  <a:schemeClr val="dk1"/>
                </a:solidFill>
              </a:rPr>
              <a:t> which might be unreliable</a:t>
            </a:r>
            <a:endParaRPr>
              <a:solidFill>
                <a:schemeClr val="dk1"/>
              </a:solidFill>
            </a:endParaRPr>
          </a:p>
          <a:p>
            <a:pPr indent="-381000" lvl="1" marL="9144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Char char="○"/>
            </a:pPr>
            <a:r>
              <a:rPr lang="en" u="sng">
                <a:solidFill>
                  <a:srgbClr val="4A86E8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Burns+14</a:t>
            </a:r>
            <a:r>
              <a:rPr lang="en">
                <a:solidFill>
                  <a:schemeClr val="dk1"/>
                </a:solidFill>
              </a:rPr>
              <a:t> derives R</a:t>
            </a:r>
            <a:r>
              <a:rPr baseline="-25000" lang="en">
                <a:solidFill>
                  <a:schemeClr val="dk1"/>
                </a:solidFill>
              </a:rPr>
              <a:t>V</a:t>
            </a:r>
            <a:r>
              <a:rPr lang="en">
                <a:solidFill>
                  <a:schemeClr val="dk1"/>
                </a:solidFill>
              </a:rPr>
              <a:t> from color instead of constant value → lower A</a:t>
            </a:r>
            <a:r>
              <a:rPr baseline="-25000" lang="en">
                <a:solidFill>
                  <a:schemeClr val="dk1"/>
                </a:solidFill>
              </a:rPr>
              <a:t>V</a:t>
            </a:r>
            <a:r>
              <a:rPr lang="en">
                <a:solidFill>
                  <a:schemeClr val="dk1"/>
                </a:solidFill>
              </a:rPr>
              <a:t> → reduces discrepancy of SN2007af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51"/>
          <p:cNvSpPr txBox="1"/>
          <p:nvPr>
            <p:ph type="title"/>
          </p:nvPr>
        </p:nvSpPr>
        <p:spPr>
          <a:xfrm>
            <a:off x="27245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5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87" name="Google Shape;387;p51" title="Screenshot 2026-10-16 at 11.42.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9264" y="0"/>
            <a:ext cx="7171924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